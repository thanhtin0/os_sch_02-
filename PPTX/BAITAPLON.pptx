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libri" panose="020F0502020204030204" pitchFamily="34" charset="0"/>
      <p:regular r:id="rId15"/>
      <p:bold r:id="rId16"/>
      <p:italic r:id="rId17"/>
      <p:boldItalic r:id="rId18"/>
    </p:embeddedFont>
    <p:embeddedFont>
      <p:font typeface="Calistoga" panose="020B0604020202020204" charset="0"/>
      <p:regular r:id="rId19"/>
    </p:embeddedFont>
    <p:embeddedFont>
      <p:font typeface="Helvetica World Bold" panose="020B0604020202020204" charset="-128"/>
      <p:bold r:id="rId20"/>
    </p:embeddedFont>
    <p:embeddedFont>
      <p:font typeface="Times New Roman Bold" panose="02020803070505020304" pitchFamily="18" charset="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5" d="100"/>
          <a:sy n="45" d="100"/>
        </p:scale>
        <p:origin x="732"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4/14/2026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21.svg"/><Relationship Id="rId12" Type="http://schemas.openxmlformats.org/officeDocument/2006/relationships/image" Target="../media/image8.png"/><Relationship Id="rId2" Type="http://schemas.openxmlformats.org/officeDocument/2006/relationships/image" Target="../media/image1.png"/><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8.svg"/><Relationship Id="rId10" Type="http://schemas.openxmlformats.org/officeDocument/2006/relationships/image" Target="../media/image15.png"/><Relationship Id="rId4" Type="http://schemas.openxmlformats.org/officeDocument/2006/relationships/image" Target="../media/image12.png"/><Relationship Id="rId9" Type="http://schemas.openxmlformats.org/officeDocument/2006/relationships/image" Target="../media/image23.svg"/><Relationship Id="rId1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9.pn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8.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38.svg"/><Relationship Id="rId3" Type="http://schemas.openxmlformats.org/officeDocument/2006/relationships/image" Target="../media/image11.pn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23.sv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8.pn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30.png"/><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31.png"/><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45.svg"/><Relationship Id="rId3" Type="http://schemas.openxmlformats.org/officeDocument/2006/relationships/image" Target="../media/image11.png"/><Relationship Id="rId7" Type="http://schemas.openxmlformats.org/officeDocument/2006/relationships/image" Target="../media/image21.svg"/><Relationship Id="rId12"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23.sv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45.svg"/><Relationship Id="rId3" Type="http://schemas.openxmlformats.org/officeDocument/2006/relationships/image" Target="../media/image11.png"/><Relationship Id="rId7" Type="http://schemas.openxmlformats.org/officeDocument/2006/relationships/image" Target="../media/image21.svg"/><Relationship Id="rId12"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23.sv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1.png"/><Relationship Id="rId7"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0" y="5832541"/>
            <a:ext cx="4707486" cy="4454459"/>
          </a:xfrm>
          <a:custGeom>
            <a:avLst/>
            <a:gdLst/>
            <a:ahLst/>
            <a:cxnLst/>
            <a:rect l="l" t="t" r="r" b="b"/>
            <a:pathLst>
              <a:path w="4707486" h="4454459">
                <a:moveTo>
                  <a:pt x="0" y="0"/>
                </a:moveTo>
                <a:lnTo>
                  <a:pt x="4707486" y="0"/>
                </a:lnTo>
                <a:lnTo>
                  <a:pt x="4707486" y="4454459"/>
                </a:lnTo>
                <a:lnTo>
                  <a:pt x="0" y="4454459"/>
                </a:lnTo>
                <a:lnTo>
                  <a:pt x="0" y="0"/>
                </a:lnTo>
                <a:close/>
              </a:path>
            </a:pathLst>
          </a:custGeom>
          <a:blipFill>
            <a:blip r:embed="rId3"/>
            <a:stretch>
              <a:fillRect/>
            </a:stretch>
          </a:blipFill>
        </p:spPr>
      </p:sp>
      <p:sp>
        <p:nvSpPr>
          <p:cNvPr id="4" name="Freeform 4"/>
          <p:cNvSpPr/>
          <p:nvPr/>
        </p:nvSpPr>
        <p:spPr>
          <a:xfrm flipH="1" flipV="1">
            <a:off x="14730985" y="0"/>
            <a:ext cx="4701785" cy="4449064"/>
          </a:xfrm>
          <a:custGeom>
            <a:avLst/>
            <a:gdLst/>
            <a:ahLst/>
            <a:cxnLst/>
            <a:rect l="l" t="t" r="r" b="b"/>
            <a:pathLst>
              <a:path w="4701785" h="4449064">
                <a:moveTo>
                  <a:pt x="4701785" y="4449064"/>
                </a:moveTo>
                <a:lnTo>
                  <a:pt x="0" y="4449064"/>
                </a:lnTo>
                <a:lnTo>
                  <a:pt x="0" y="0"/>
                </a:lnTo>
                <a:lnTo>
                  <a:pt x="4701785" y="0"/>
                </a:lnTo>
                <a:lnTo>
                  <a:pt x="4701785" y="4449064"/>
                </a:lnTo>
                <a:close/>
              </a:path>
            </a:pathLst>
          </a:custGeom>
          <a:blipFill>
            <a:blip r:embed="rId3"/>
            <a:stretch>
              <a:fillRect/>
            </a:stretch>
          </a:blipFill>
        </p:spPr>
      </p:sp>
      <p:sp>
        <p:nvSpPr>
          <p:cNvPr id="5" name="TextBox 5"/>
          <p:cNvSpPr txBox="1"/>
          <p:nvPr/>
        </p:nvSpPr>
        <p:spPr>
          <a:xfrm>
            <a:off x="2253898" y="1982192"/>
            <a:ext cx="14066396" cy="2943860"/>
          </a:xfrm>
          <a:prstGeom prst="rect">
            <a:avLst/>
          </a:prstGeom>
        </p:spPr>
        <p:txBody>
          <a:bodyPr lIns="0" tIns="0" rIns="0" bIns="0" rtlCol="0" anchor="t">
            <a:spAutoFit/>
          </a:bodyPr>
          <a:lstStyle/>
          <a:p>
            <a:pPr algn="ctr">
              <a:lnSpc>
                <a:spcPts val="7840"/>
              </a:lnSpc>
            </a:pPr>
            <a:r>
              <a:rPr lang="en-US" sz="5600">
                <a:solidFill>
                  <a:srgbClr val="24386B"/>
                </a:solidFill>
                <a:latin typeface="Calistoga" panose="00000500000000000000"/>
                <a:ea typeface="Calistoga" panose="00000500000000000000"/>
                <a:cs typeface="Calistoga" panose="00000500000000000000"/>
                <a:sym typeface="Calistoga" panose="00000500000000000000"/>
              </a:rPr>
              <a:t>ĐỀ TÀI: </a:t>
            </a:r>
          </a:p>
          <a:p>
            <a:pPr algn="ctr">
              <a:lnSpc>
                <a:spcPts val="7840"/>
              </a:lnSpc>
              <a:spcBef>
                <a:spcPct val="0"/>
              </a:spcBef>
            </a:pPr>
            <a:r>
              <a:rPr lang="en-US" sz="5600">
                <a:solidFill>
                  <a:srgbClr val="24386B"/>
                </a:solidFill>
                <a:latin typeface="Calistoga" panose="00000500000000000000"/>
                <a:ea typeface="Calistoga" panose="00000500000000000000"/>
                <a:cs typeface="Calistoga" panose="00000500000000000000"/>
                <a:sym typeface="Calistoga" panose="00000500000000000000"/>
              </a:rPr>
              <a:t>ỨNG DỤNG GUI MÔ PHỎNG THUẬT TOÁN LẬP LỊCH CPU: FCFS VÀ PRIORITY</a:t>
            </a:r>
          </a:p>
        </p:txBody>
      </p:sp>
      <p:grpSp>
        <p:nvGrpSpPr>
          <p:cNvPr id="6" name="Group 6"/>
          <p:cNvGrpSpPr/>
          <p:nvPr/>
        </p:nvGrpSpPr>
        <p:grpSpPr>
          <a:xfrm>
            <a:off x="4929820" y="5418859"/>
            <a:ext cx="8905348" cy="3086100"/>
            <a:chOff x="0" y="0"/>
            <a:chExt cx="11873797" cy="4114800"/>
          </a:xfrm>
        </p:grpSpPr>
        <p:grpSp>
          <p:nvGrpSpPr>
            <p:cNvPr id="7" name="Group 7"/>
            <p:cNvGrpSpPr/>
            <p:nvPr/>
          </p:nvGrpSpPr>
          <p:grpSpPr>
            <a:xfrm>
              <a:off x="0" y="0"/>
              <a:ext cx="11873797" cy="4114800"/>
              <a:chOff x="0" y="0"/>
              <a:chExt cx="2345441" cy="812800"/>
            </a:xfrm>
          </p:grpSpPr>
          <p:sp>
            <p:nvSpPr>
              <p:cNvPr id="8" name="Freeform 8"/>
              <p:cNvSpPr/>
              <p:nvPr/>
            </p:nvSpPr>
            <p:spPr>
              <a:xfrm>
                <a:off x="0" y="0"/>
                <a:ext cx="2345441" cy="812800"/>
              </a:xfrm>
              <a:custGeom>
                <a:avLst/>
                <a:gdLst/>
                <a:ahLst/>
                <a:cxnLst/>
                <a:rect l="l" t="t" r="r" b="b"/>
                <a:pathLst>
                  <a:path w="2345441" h="812800">
                    <a:moveTo>
                      <a:pt x="14779" y="0"/>
                    </a:moveTo>
                    <a:lnTo>
                      <a:pt x="2330662" y="0"/>
                    </a:lnTo>
                    <a:cubicBezTo>
                      <a:pt x="2334582" y="0"/>
                      <a:pt x="2338341" y="1557"/>
                      <a:pt x="2341113" y="4329"/>
                    </a:cubicBezTo>
                    <a:cubicBezTo>
                      <a:pt x="2343884" y="7100"/>
                      <a:pt x="2345441" y="10859"/>
                      <a:pt x="2345441" y="14779"/>
                    </a:cubicBezTo>
                    <a:lnTo>
                      <a:pt x="2345441" y="798021"/>
                    </a:lnTo>
                    <a:cubicBezTo>
                      <a:pt x="2345441" y="801941"/>
                      <a:pt x="2343884" y="805700"/>
                      <a:pt x="2341113" y="808471"/>
                    </a:cubicBezTo>
                    <a:cubicBezTo>
                      <a:pt x="2338341" y="811243"/>
                      <a:pt x="2334582" y="812800"/>
                      <a:pt x="2330662" y="812800"/>
                    </a:cubicBezTo>
                    <a:lnTo>
                      <a:pt x="14779" y="812800"/>
                    </a:lnTo>
                    <a:cubicBezTo>
                      <a:pt x="10859" y="812800"/>
                      <a:pt x="7100" y="811243"/>
                      <a:pt x="4329" y="808471"/>
                    </a:cubicBezTo>
                    <a:cubicBezTo>
                      <a:pt x="1557" y="805700"/>
                      <a:pt x="0" y="801941"/>
                      <a:pt x="0" y="798021"/>
                    </a:cubicBezTo>
                    <a:lnTo>
                      <a:pt x="0" y="14779"/>
                    </a:lnTo>
                    <a:cubicBezTo>
                      <a:pt x="0" y="10859"/>
                      <a:pt x="1557" y="7100"/>
                      <a:pt x="4329" y="4329"/>
                    </a:cubicBezTo>
                    <a:cubicBezTo>
                      <a:pt x="7100" y="1557"/>
                      <a:pt x="10859" y="0"/>
                      <a:pt x="14779" y="0"/>
                    </a:cubicBezTo>
                    <a:close/>
                  </a:path>
                </a:pathLst>
              </a:custGeom>
              <a:ln w="38100" cap="sq">
                <a:solidFill>
                  <a:srgbClr val="7CB1FF"/>
                </a:solidFill>
                <a:prstDash val="dash"/>
                <a:miter/>
              </a:ln>
            </p:spPr>
          </p:sp>
          <p:sp>
            <p:nvSpPr>
              <p:cNvPr id="9" name="TextBox 9"/>
              <p:cNvSpPr txBox="1"/>
              <p:nvPr/>
            </p:nvSpPr>
            <p:spPr>
              <a:xfrm>
                <a:off x="0" y="-38100"/>
                <a:ext cx="2345441" cy="850900"/>
              </a:xfrm>
              <a:prstGeom prst="rect">
                <a:avLst/>
              </a:prstGeom>
            </p:spPr>
            <p:txBody>
              <a:bodyPr lIns="50800" tIns="50800" rIns="50800" bIns="50800" rtlCol="0" anchor="ctr"/>
              <a:lstStyle/>
              <a:p>
                <a:pPr algn="ctr">
                  <a:lnSpc>
                    <a:spcPts val="2800"/>
                  </a:lnSpc>
                </a:pPr>
                <a:endParaRPr/>
              </a:p>
            </p:txBody>
          </p:sp>
        </p:grpSp>
        <p:grpSp>
          <p:nvGrpSpPr>
            <p:cNvPr id="10" name="Group 10"/>
            <p:cNvGrpSpPr/>
            <p:nvPr/>
          </p:nvGrpSpPr>
          <p:grpSpPr>
            <a:xfrm>
              <a:off x="296792" y="368199"/>
              <a:ext cx="11174215" cy="3330421"/>
              <a:chOff x="0" y="0"/>
              <a:chExt cx="2207252" cy="657861"/>
            </a:xfrm>
          </p:grpSpPr>
          <p:sp>
            <p:nvSpPr>
              <p:cNvPr id="11" name="Freeform 11"/>
              <p:cNvSpPr/>
              <p:nvPr/>
            </p:nvSpPr>
            <p:spPr>
              <a:xfrm>
                <a:off x="0" y="0"/>
                <a:ext cx="2207252" cy="657861"/>
              </a:xfrm>
              <a:custGeom>
                <a:avLst/>
                <a:gdLst/>
                <a:ahLst/>
                <a:cxnLst/>
                <a:rect l="l" t="t" r="r" b="b"/>
                <a:pathLst>
                  <a:path w="2207252" h="657861">
                    <a:moveTo>
                      <a:pt x="15704" y="0"/>
                    </a:moveTo>
                    <a:lnTo>
                      <a:pt x="2191548" y="0"/>
                    </a:lnTo>
                    <a:cubicBezTo>
                      <a:pt x="2200222" y="0"/>
                      <a:pt x="2207252" y="7031"/>
                      <a:pt x="2207252" y="15704"/>
                    </a:cubicBezTo>
                    <a:lnTo>
                      <a:pt x="2207252" y="642157"/>
                    </a:lnTo>
                    <a:cubicBezTo>
                      <a:pt x="2207252" y="650830"/>
                      <a:pt x="2200222" y="657861"/>
                      <a:pt x="2191548" y="657861"/>
                    </a:cubicBezTo>
                    <a:lnTo>
                      <a:pt x="15704" y="657861"/>
                    </a:lnTo>
                    <a:cubicBezTo>
                      <a:pt x="7031" y="657861"/>
                      <a:pt x="0" y="650830"/>
                      <a:pt x="0" y="642157"/>
                    </a:cubicBezTo>
                    <a:lnTo>
                      <a:pt x="0" y="15704"/>
                    </a:lnTo>
                    <a:cubicBezTo>
                      <a:pt x="0" y="7031"/>
                      <a:pt x="7031" y="0"/>
                      <a:pt x="15704" y="0"/>
                    </a:cubicBezTo>
                    <a:close/>
                  </a:path>
                </a:pathLst>
              </a:custGeom>
              <a:gradFill rotWithShape="1">
                <a:gsLst>
                  <a:gs pos="0">
                    <a:srgbClr val="5DE0E6">
                      <a:alpha val="100000"/>
                    </a:srgbClr>
                  </a:gs>
                  <a:gs pos="100000">
                    <a:srgbClr val="004AAD">
                      <a:alpha val="100000"/>
                    </a:srgbClr>
                  </a:gs>
                </a:gsLst>
                <a:lin ang="5400000"/>
              </a:gradFill>
            </p:spPr>
          </p:sp>
          <p:sp>
            <p:nvSpPr>
              <p:cNvPr id="12" name="TextBox 12"/>
              <p:cNvSpPr txBox="1"/>
              <p:nvPr/>
            </p:nvSpPr>
            <p:spPr>
              <a:xfrm>
                <a:off x="0" y="-38100"/>
                <a:ext cx="2207252" cy="695961"/>
              </a:xfrm>
              <a:prstGeom prst="rect">
                <a:avLst/>
              </a:prstGeom>
            </p:spPr>
            <p:txBody>
              <a:bodyPr lIns="50800" tIns="50800" rIns="50800" bIns="50800" rtlCol="0" anchor="ctr"/>
              <a:lstStyle/>
              <a:p>
                <a:pPr algn="ctr">
                  <a:lnSpc>
                    <a:spcPts val="2800"/>
                  </a:lnSpc>
                </a:pPr>
                <a:endParaRPr/>
              </a:p>
            </p:txBody>
          </p:sp>
        </p:grpSp>
        <p:sp>
          <p:nvSpPr>
            <p:cNvPr id="13" name="TextBox 13"/>
            <p:cNvSpPr txBox="1"/>
            <p:nvPr/>
          </p:nvSpPr>
          <p:spPr>
            <a:xfrm>
              <a:off x="1443603" y="784506"/>
              <a:ext cx="8880593" cy="3072766"/>
            </a:xfrm>
            <a:prstGeom prst="rect">
              <a:avLst/>
            </a:prstGeom>
          </p:spPr>
          <p:txBody>
            <a:bodyPr lIns="0" tIns="0" rIns="0" bIns="0" rtlCol="0" anchor="t">
              <a:spAutoFit/>
            </a:bodyPr>
            <a:lstStyle/>
            <a:p>
              <a:pPr algn="just">
                <a:lnSpc>
                  <a:spcPts val="4620"/>
                </a:lnSpc>
              </a:pPr>
              <a:r>
                <a:rPr lang="en-US" sz="3300">
                  <a:solidFill>
                    <a:srgbClr val="FFFFFF"/>
                  </a:solidFill>
                  <a:latin typeface="Times New Roman" panose="02020603050405020304"/>
                  <a:ea typeface="Times New Roman" panose="02020603050405020304"/>
                  <a:cs typeface="Times New Roman" panose="02020603050405020304"/>
                  <a:sym typeface="Times New Roman" panose="02020603050405020304"/>
                </a:rPr>
                <a:t>Mã lớp học phần : 7480201</a:t>
              </a:r>
            </a:p>
            <a:p>
              <a:pPr algn="just">
                <a:lnSpc>
                  <a:spcPts val="4620"/>
                </a:lnSpc>
              </a:pPr>
              <a:r>
                <a:rPr lang="en-US" sz="3300">
                  <a:solidFill>
                    <a:srgbClr val="FFFFFF"/>
                  </a:solidFill>
                  <a:latin typeface="Times New Roman" panose="02020603050405020304"/>
                  <a:ea typeface="Times New Roman" panose="02020603050405020304"/>
                  <a:cs typeface="Times New Roman" panose="02020603050405020304"/>
                  <a:sym typeface="Times New Roman" panose="02020603050405020304"/>
                </a:rPr>
                <a:t>Nhóm sinh viên thực hiện : Nhóm 6</a:t>
              </a:r>
            </a:p>
            <a:p>
              <a:pPr algn="just">
                <a:lnSpc>
                  <a:spcPts val="4620"/>
                </a:lnSpc>
              </a:pPr>
              <a:r>
                <a:rPr lang="en-US" sz="3300">
                  <a:solidFill>
                    <a:srgbClr val="FFFFFF"/>
                  </a:solidFill>
                  <a:latin typeface="Times New Roman" panose="02020603050405020304"/>
                  <a:ea typeface="Times New Roman" panose="02020603050405020304"/>
                  <a:cs typeface="Times New Roman" panose="02020603050405020304"/>
                  <a:sym typeface="Times New Roman" panose="02020603050405020304"/>
                </a:rPr>
                <a:t>GVHD : Mai Ngọc Châu</a:t>
              </a:r>
            </a:p>
            <a:p>
              <a:pPr marL="0" lvl="0" indent="0" algn="l">
                <a:lnSpc>
                  <a:spcPts val="4620"/>
                </a:lnSpc>
                <a:spcBef>
                  <a:spcPct val="0"/>
                </a:spcBef>
              </a:pPr>
              <a:endParaRPr lang="en-US" sz="330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TextBox 3"/>
          <p:cNvSpPr txBox="1"/>
          <p:nvPr/>
        </p:nvSpPr>
        <p:spPr>
          <a:xfrm>
            <a:off x="4653805" y="1380480"/>
            <a:ext cx="11045475" cy="1377949"/>
          </a:xfrm>
          <a:prstGeom prst="rect">
            <a:avLst/>
          </a:prstGeom>
        </p:spPr>
        <p:txBody>
          <a:bodyPr lIns="0" tIns="0" rIns="0" bIns="0" rtlCol="0" anchor="t">
            <a:spAutoFit/>
          </a:bodyPr>
          <a:lstStyle/>
          <a:p>
            <a:pPr algn="l">
              <a:lnSpc>
                <a:spcPts val="11200"/>
              </a:lnSpc>
              <a:spcBef>
                <a:spcPct val="0"/>
              </a:spcBef>
            </a:pPr>
            <a:r>
              <a:rPr lang="en-US" sz="8000">
                <a:solidFill>
                  <a:srgbClr val="175CA2"/>
                </a:solidFill>
                <a:latin typeface="Calistoga" panose="00000500000000000000"/>
                <a:ea typeface="Calistoga" panose="00000500000000000000"/>
                <a:cs typeface="Calistoga" panose="00000500000000000000"/>
                <a:sym typeface="Calistoga" panose="00000500000000000000"/>
              </a:rPr>
              <a:t>THÀNH VIÊN NHÓM</a:t>
            </a:r>
          </a:p>
        </p:txBody>
      </p:sp>
      <p:sp>
        <p:nvSpPr>
          <p:cNvPr id="4" name="Freeform 4"/>
          <p:cNvSpPr/>
          <p:nvPr/>
        </p:nvSpPr>
        <p:spPr>
          <a:xfrm flipH="1" flipV="1">
            <a:off x="10972800" y="-102560"/>
            <a:ext cx="7315200" cy="3703320"/>
          </a:xfrm>
          <a:custGeom>
            <a:avLst/>
            <a:gdLst/>
            <a:ahLst/>
            <a:cxnLst/>
            <a:rect l="l" t="t" r="r" b="b"/>
            <a:pathLst>
              <a:path w="7315200" h="3703320">
                <a:moveTo>
                  <a:pt x="7315200" y="3703320"/>
                </a:moveTo>
                <a:lnTo>
                  <a:pt x="0" y="3703320"/>
                </a:lnTo>
                <a:lnTo>
                  <a:pt x="0" y="0"/>
                </a:lnTo>
                <a:lnTo>
                  <a:pt x="7315200" y="0"/>
                </a:lnTo>
                <a:lnTo>
                  <a:pt x="7315200" y="370332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5" name="Freeform 5"/>
          <p:cNvSpPr/>
          <p:nvPr/>
        </p:nvSpPr>
        <p:spPr>
          <a:xfrm flipV="1">
            <a:off x="-147605" y="38020"/>
            <a:ext cx="7315200" cy="3703320"/>
          </a:xfrm>
          <a:custGeom>
            <a:avLst/>
            <a:gdLst/>
            <a:ahLst/>
            <a:cxnLst/>
            <a:rect l="l" t="t" r="r" b="b"/>
            <a:pathLst>
              <a:path w="7315200" h="3703320">
                <a:moveTo>
                  <a:pt x="0" y="3703320"/>
                </a:moveTo>
                <a:lnTo>
                  <a:pt x="7315200" y="3703320"/>
                </a:lnTo>
                <a:lnTo>
                  <a:pt x="7315200" y="0"/>
                </a:lnTo>
                <a:lnTo>
                  <a:pt x="0" y="0"/>
                </a:lnTo>
                <a:lnTo>
                  <a:pt x="0" y="3703320"/>
                </a:lnTo>
                <a:close/>
              </a:path>
            </a:pathLst>
          </a:custGeom>
          <a:blipFill>
            <a:blip r:embed="rId3">
              <a:extLst>
                <a:ext uri="{96DAC541-7B7A-43D3-8B79-37D633B846F1}">
                  <asvg:svgBlip xmlns="" xmlns:asvg="http://schemas.microsoft.com/office/drawing/2016/SVG/main" r:embed="rId4"/>
                </a:ext>
              </a:extLst>
            </a:blip>
            <a:stretch>
              <a:fillRect/>
            </a:stretch>
          </a:blipFill>
        </p:spPr>
      </p:sp>
      <p:graphicFrame>
        <p:nvGraphicFramePr>
          <p:cNvPr id="6" name="Table 6"/>
          <p:cNvGraphicFramePr>
            <a:graphicFrameLocks noGrp="1"/>
          </p:cNvGraphicFramePr>
          <p:nvPr/>
        </p:nvGraphicFramePr>
        <p:xfrm>
          <a:off x="3121318" y="2758429"/>
          <a:ext cx="12848256" cy="7146769"/>
        </p:xfrm>
        <a:graphic>
          <a:graphicData uri="http://schemas.openxmlformats.org/drawingml/2006/table">
            <a:tbl>
              <a:tblPr/>
              <a:tblGrid>
                <a:gridCol w="6224792">
                  <a:extLst>
                    <a:ext uri="{9D8B030D-6E8A-4147-A177-3AD203B41FA5}">
                      <a16:colId xmlns:a16="http://schemas.microsoft.com/office/drawing/2014/main" val="20000"/>
                    </a:ext>
                  </a:extLst>
                </a:gridCol>
                <a:gridCol w="6623464">
                  <a:extLst>
                    <a:ext uri="{9D8B030D-6E8A-4147-A177-3AD203B41FA5}">
                      <a16:colId xmlns:a16="http://schemas.microsoft.com/office/drawing/2014/main" val="20001"/>
                    </a:ext>
                  </a:extLst>
                </a:gridCol>
              </a:tblGrid>
              <a:tr h="1020967">
                <a:tc>
                  <a:txBody>
                    <a:bodyPr/>
                    <a:lstStyle/>
                    <a:p>
                      <a:pPr algn="ctr">
                        <a:lnSpc>
                          <a:spcPts val="3920"/>
                        </a:lnSpc>
                        <a:defRPr/>
                      </a:pPr>
                      <a:r>
                        <a:rPr lang="en-US" sz="2800" b="1">
                          <a:solidFill>
                            <a:srgbClr val="FFFFFF"/>
                          </a:solidFill>
                          <a:latin typeface="Times New Roman Bold" panose="02020803070505020304"/>
                          <a:ea typeface="Times New Roman Bold" panose="02020803070505020304"/>
                          <a:cs typeface="Times New Roman Bold" panose="02020803070505020304"/>
                          <a:sym typeface="Times New Roman Bold" panose="02020803070505020304"/>
                        </a:rPr>
                        <a:t>Họ Và Tên </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175CA2"/>
                    </a:solidFill>
                  </a:tcPr>
                </a:tc>
                <a:tc>
                  <a:txBody>
                    <a:bodyPr/>
                    <a:lstStyle/>
                    <a:p>
                      <a:pPr algn="ctr">
                        <a:lnSpc>
                          <a:spcPts val="3920"/>
                        </a:lnSpc>
                        <a:defRPr/>
                      </a:pPr>
                      <a:r>
                        <a:rPr lang="en-US" sz="2800" b="1">
                          <a:solidFill>
                            <a:srgbClr val="FFFFFF"/>
                          </a:solidFill>
                          <a:latin typeface="Times New Roman Bold" panose="02020803070505020304"/>
                          <a:ea typeface="Times New Roman Bold" panose="02020803070505020304"/>
                          <a:cs typeface="Times New Roman Bold" panose="02020803070505020304"/>
                          <a:sym typeface="Times New Roman Bold" panose="02020803070505020304"/>
                        </a:rPr>
                        <a:t>Phân Công </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175CA2"/>
                    </a:solidFill>
                  </a:tcPr>
                </a:tc>
                <a:extLst>
                  <a:ext uri="{0D108BD9-81ED-4DB2-BD59-A6C34878D82A}">
                    <a16:rowId xmlns:a16="http://schemas.microsoft.com/office/drawing/2014/main" val="10000"/>
                  </a:ext>
                </a:extLst>
              </a:tr>
              <a:tr h="1020967">
                <a:tc>
                  <a:txBody>
                    <a:bodyPr/>
                    <a:lstStyle/>
                    <a:p>
                      <a:pPr algn="ctr">
                        <a:lnSpc>
                          <a:spcPts val="3920"/>
                        </a:lnSpc>
                        <a:defRPr/>
                      </a:pPr>
                      <a:r>
                        <a:rPr lang="en-US" sz="2800" b="1">
                          <a:solidFill>
                            <a:srgbClr val="094170"/>
                          </a:solidFill>
                          <a:latin typeface="Times New Roman Bold" panose="02020803070505020304"/>
                          <a:ea typeface="Times New Roman Bold" panose="02020803070505020304"/>
                          <a:cs typeface="Times New Roman Bold" panose="02020803070505020304"/>
                          <a:sym typeface="Times New Roman Bold" panose="02020803070505020304"/>
                        </a:rPr>
                        <a:t>Nguyễn Minh Hoàng</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20"/>
                        </a:lnSpc>
                        <a:defRPr/>
                      </a:pPr>
                      <a:r>
                        <a:rPr lang="en-US" sz="2800" b="1">
                          <a:solidFill>
                            <a:srgbClr val="094170"/>
                          </a:solidFill>
                          <a:latin typeface="Times New Roman Bold" panose="02020803070505020304"/>
                          <a:ea typeface="Times New Roman Bold" panose="02020803070505020304"/>
                          <a:cs typeface="Times New Roman Bold" panose="02020803070505020304"/>
                          <a:sym typeface="Times New Roman Bold" panose="02020803070505020304"/>
                        </a:rPr>
                        <a:t>Tạo dữ liệu &amp; Testing</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20967">
                <a:tc>
                  <a:txBody>
                    <a:bodyPr/>
                    <a:lstStyle/>
                    <a:p>
                      <a:pPr algn="ctr">
                        <a:lnSpc>
                          <a:spcPts val="3920"/>
                        </a:lnSpc>
                        <a:defRPr/>
                      </a:pPr>
                      <a:r>
                        <a:rPr lang="en-US" sz="2800" b="1">
                          <a:solidFill>
                            <a:srgbClr val="094170"/>
                          </a:solidFill>
                          <a:latin typeface="Times New Roman Bold" panose="02020803070505020304"/>
                          <a:ea typeface="Times New Roman Bold" panose="02020803070505020304"/>
                          <a:cs typeface="Times New Roman Bold" panose="02020803070505020304"/>
                          <a:sym typeface="Times New Roman Bold" panose="02020803070505020304"/>
                        </a:rPr>
                        <a:t>Nguyễn Quang Minh</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20"/>
                        </a:lnSpc>
                        <a:defRPr/>
                      </a:pPr>
                      <a:r>
                        <a:rPr lang="en-US" sz="2800" b="1">
                          <a:solidFill>
                            <a:srgbClr val="094170"/>
                          </a:solidFill>
                          <a:latin typeface="Times New Roman Bold" panose="02020803070505020304"/>
                          <a:ea typeface="Times New Roman Bold" panose="02020803070505020304"/>
                          <a:cs typeface="Times New Roman Bold" panose="02020803070505020304"/>
                          <a:sym typeface="Times New Roman Bold" panose="02020803070505020304"/>
                        </a:rPr>
                        <a:t>Viết báo cáo</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20967">
                <a:tc>
                  <a:txBody>
                    <a:bodyPr/>
                    <a:lstStyle/>
                    <a:p>
                      <a:pPr algn="ctr">
                        <a:lnSpc>
                          <a:spcPts val="3920"/>
                        </a:lnSpc>
                        <a:defRPr/>
                      </a:pPr>
                      <a:r>
                        <a:rPr lang="en-US" sz="2800" b="1">
                          <a:solidFill>
                            <a:srgbClr val="094170"/>
                          </a:solidFill>
                          <a:latin typeface="Times New Roman Bold" panose="02020803070505020304"/>
                          <a:ea typeface="Times New Roman Bold" panose="02020803070505020304"/>
                          <a:cs typeface="Times New Roman Bold" panose="02020803070505020304"/>
                          <a:sym typeface="Times New Roman Bold" panose="02020803070505020304"/>
                        </a:rPr>
                        <a:t>Nguyễn Nhật Tân</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20"/>
                        </a:lnSpc>
                        <a:defRPr/>
                      </a:pPr>
                      <a:r>
                        <a:rPr lang="en-US" sz="2800" b="1">
                          <a:solidFill>
                            <a:srgbClr val="094170"/>
                          </a:solidFill>
                          <a:latin typeface="Times New Roman Bold" panose="02020803070505020304"/>
                          <a:ea typeface="Times New Roman Bold" panose="02020803070505020304"/>
                          <a:cs typeface="Times New Roman Bold" panose="02020803070505020304"/>
                          <a:sym typeface="Times New Roman Bold" panose="02020803070505020304"/>
                        </a:rPr>
                        <a:t>Trực quan hóa dữ liệu</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20967">
                <a:tc>
                  <a:txBody>
                    <a:bodyPr/>
                    <a:lstStyle/>
                    <a:p>
                      <a:pPr algn="ctr">
                        <a:lnSpc>
                          <a:spcPts val="3920"/>
                        </a:lnSpc>
                        <a:defRPr/>
                      </a:pPr>
                      <a:r>
                        <a:rPr lang="en-US" sz="2800" b="1">
                          <a:solidFill>
                            <a:srgbClr val="094170"/>
                          </a:solidFill>
                          <a:latin typeface="Times New Roman Bold" panose="02020803070505020304"/>
                          <a:ea typeface="Times New Roman Bold" panose="02020803070505020304"/>
                          <a:cs typeface="Times New Roman Bold" panose="02020803070505020304"/>
                          <a:sym typeface="Times New Roman Bold" panose="02020803070505020304"/>
                        </a:rPr>
                        <a:t>Nguyễn Lữ Hòa Thịnh</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20"/>
                        </a:lnSpc>
                        <a:defRPr/>
                      </a:pPr>
                      <a:r>
                        <a:rPr lang="en-US" sz="2800" b="1">
                          <a:solidFill>
                            <a:srgbClr val="094170"/>
                          </a:solidFill>
                          <a:latin typeface="Times New Roman Bold" panose="02020803070505020304"/>
                          <a:ea typeface="Times New Roman Bold" panose="02020803070505020304"/>
                          <a:cs typeface="Times New Roman Bold" panose="02020803070505020304"/>
                          <a:sym typeface="Times New Roman Bold" panose="02020803070505020304"/>
                        </a:rPr>
                        <a:t>Làm Video &amp; Slide</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020967">
                <a:tc>
                  <a:txBody>
                    <a:bodyPr/>
                    <a:lstStyle/>
                    <a:p>
                      <a:pPr algn="ctr">
                        <a:lnSpc>
                          <a:spcPts val="3920"/>
                        </a:lnSpc>
                        <a:defRPr/>
                      </a:pPr>
                      <a:r>
                        <a:rPr lang="en-US" sz="2800" b="1">
                          <a:solidFill>
                            <a:srgbClr val="094170"/>
                          </a:solidFill>
                          <a:latin typeface="Times New Roman Bold" panose="02020803070505020304"/>
                          <a:ea typeface="Times New Roman Bold" panose="02020803070505020304"/>
                          <a:cs typeface="Times New Roman Bold" panose="02020803070505020304"/>
                          <a:sym typeface="Times New Roman Bold" panose="02020803070505020304"/>
                        </a:rPr>
                        <a:t>Đoàn Thanh Tín (Nhóm trưởng)</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20"/>
                        </a:lnSpc>
                        <a:defRPr/>
                      </a:pPr>
                      <a:r>
                        <a:rPr lang="en-US" sz="2800" b="1">
                          <a:solidFill>
                            <a:srgbClr val="094170"/>
                          </a:solidFill>
                          <a:latin typeface="Times New Roman Bold" panose="02020803070505020304"/>
                          <a:ea typeface="Times New Roman Bold" panose="02020803070505020304"/>
                          <a:cs typeface="Times New Roman Bold" panose="02020803070505020304"/>
                          <a:sym typeface="Times New Roman Bold" panose="02020803070505020304"/>
                        </a:rPr>
                        <a:t>Code Thuật toán &amp; Quản lý Git</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020967">
                <a:tc>
                  <a:txBody>
                    <a:bodyPr/>
                    <a:lstStyle/>
                    <a:p>
                      <a:pPr algn="ctr">
                        <a:lnSpc>
                          <a:spcPts val="3920"/>
                        </a:lnSpc>
                        <a:defRPr/>
                      </a:pPr>
                      <a:r>
                        <a:rPr lang="en-US" sz="2800" b="1">
                          <a:solidFill>
                            <a:srgbClr val="094170"/>
                          </a:solidFill>
                          <a:latin typeface="Times New Roman Bold" panose="02020803070505020304"/>
                          <a:ea typeface="Times New Roman Bold" panose="02020803070505020304"/>
                          <a:cs typeface="Times New Roman Bold" panose="02020803070505020304"/>
                          <a:sym typeface="Times New Roman Bold" panose="02020803070505020304"/>
                        </a:rPr>
                        <a:t>Nguyễn Tiến Trung</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920"/>
                        </a:lnSpc>
                        <a:defRPr/>
                      </a:pPr>
                      <a:r>
                        <a:rPr lang="en-US" sz="2800" b="1">
                          <a:solidFill>
                            <a:srgbClr val="094170"/>
                          </a:solidFill>
                          <a:latin typeface="Times New Roman Bold" panose="02020803070505020304"/>
                          <a:ea typeface="Times New Roman Bold" panose="02020803070505020304"/>
                          <a:cs typeface="Times New Roman Bold" panose="02020803070505020304"/>
                          <a:sym typeface="Times New Roman Bold" panose="02020803070505020304"/>
                        </a:rPr>
                        <a:t>Lập trình Giao diện (GUI)</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0" y="7301251"/>
            <a:ext cx="18288000" cy="4559808"/>
          </a:xfrm>
          <a:custGeom>
            <a:avLst/>
            <a:gdLst/>
            <a:ahLst/>
            <a:cxnLst/>
            <a:rect l="l" t="t" r="r" b="b"/>
            <a:pathLst>
              <a:path w="18288000" h="4559808">
                <a:moveTo>
                  <a:pt x="0" y="0"/>
                </a:moveTo>
                <a:lnTo>
                  <a:pt x="18288000" y="0"/>
                </a:lnTo>
                <a:lnTo>
                  <a:pt x="18288000" y="4559808"/>
                </a:lnTo>
                <a:lnTo>
                  <a:pt x="0" y="4559808"/>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4" name="Group 4"/>
          <p:cNvGrpSpPr/>
          <p:nvPr/>
        </p:nvGrpSpPr>
        <p:grpSpPr>
          <a:xfrm>
            <a:off x="1709162" y="1982741"/>
            <a:ext cx="6374338" cy="1298047"/>
            <a:chOff x="0" y="0"/>
            <a:chExt cx="8499118" cy="1730729"/>
          </a:xfrm>
        </p:grpSpPr>
        <p:sp>
          <p:nvSpPr>
            <p:cNvPr id="5" name="Freeform 5"/>
            <p:cNvSpPr/>
            <p:nvPr/>
          </p:nvSpPr>
          <p:spPr>
            <a:xfrm>
              <a:off x="0" y="0"/>
              <a:ext cx="8499118" cy="1730729"/>
            </a:xfrm>
            <a:custGeom>
              <a:avLst/>
              <a:gdLst/>
              <a:ahLst/>
              <a:cxnLst/>
              <a:rect l="l" t="t" r="r" b="b"/>
              <a:pathLst>
                <a:path w="8499118" h="1730729">
                  <a:moveTo>
                    <a:pt x="0" y="0"/>
                  </a:moveTo>
                  <a:lnTo>
                    <a:pt x="8499118" y="0"/>
                  </a:lnTo>
                  <a:lnTo>
                    <a:pt x="8499118" y="1730729"/>
                  </a:lnTo>
                  <a:lnTo>
                    <a:pt x="0" y="173072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6" name="TextBox 6"/>
            <p:cNvSpPr txBox="1"/>
            <p:nvPr/>
          </p:nvSpPr>
          <p:spPr>
            <a:xfrm>
              <a:off x="0" y="448169"/>
              <a:ext cx="7271634" cy="748666"/>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Times New Roman Bold" panose="02020803070505020304"/>
                  <a:ea typeface="Times New Roman Bold" panose="02020803070505020304"/>
                  <a:cs typeface="Times New Roman Bold" panose="02020803070505020304"/>
                  <a:sym typeface="Times New Roman Bold" panose="02020803070505020304"/>
                </a:rPr>
                <a:t>1.1 Lý do chọn đề tài</a:t>
              </a:r>
            </a:p>
          </p:txBody>
        </p:sp>
      </p:grpSp>
      <p:grpSp>
        <p:nvGrpSpPr>
          <p:cNvPr id="7" name="Group 7"/>
          <p:cNvGrpSpPr/>
          <p:nvPr/>
        </p:nvGrpSpPr>
        <p:grpSpPr>
          <a:xfrm>
            <a:off x="10006173" y="1982741"/>
            <a:ext cx="7094832" cy="1298047"/>
            <a:chOff x="0" y="0"/>
            <a:chExt cx="9459777" cy="1730729"/>
          </a:xfrm>
        </p:grpSpPr>
        <p:sp>
          <p:nvSpPr>
            <p:cNvPr id="8" name="Freeform 8"/>
            <p:cNvSpPr/>
            <p:nvPr/>
          </p:nvSpPr>
          <p:spPr>
            <a:xfrm>
              <a:off x="960659" y="0"/>
              <a:ext cx="8499118" cy="1730729"/>
            </a:xfrm>
            <a:custGeom>
              <a:avLst/>
              <a:gdLst/>
              <a:ahLst/>
              <a:cxnLst/>
              <a:rect l="l" t="t" r="r" b="b"/>
              <a:pathLst>
                <a:path w="8499118" h="1730729">
                  <a:moveTo>
                    <a:pt x="0" y="0"/>
                  </a:moveTo>
                  <a:lnTo>
                    <a:pt x="8499118" y="0"/>
                  </a:lnTo>
                  <a:lnTo>
                    <a:pt x="8499118" y="1730729"/>
                  </a:lnTo>
                  <a:lnTo>
                    <a:pt x="0" y="173072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9" name="TextBox 9"/>
            <p:cNvSpPr txBox="1"/>
            <p:nvPr/>
          </p:nvSpPr>
          <p:spPr>
            <a:xfrm>
              <a:off x="0" y="448169"/>
              <a:ext cx="9067385" cy="748666"/>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Times New Roman Bold" panose="02020803070505020304"/>
                  <a:ea typeface="Times New Roman Bold" panose="02020803070505020304"/>
                  <a:cs typeface="Times New Roman Bold" panose="02020803070505020304"/>
                  <a:sym typeface="Times New Roman Bold" panose="02020803070505020304"/>
                </a:rPr>
                <a:t>1.2 Mục tiêu của đề tài</a:t>
              </a:r>
            </a:p>
          </p:txBody>
        </p:sp>
      </p:grpSp>
      <p:sp>
        <p:nvSpPr>
          <p:cNvPr id="10" name="Freeform 10"/>
          <p:cNvSpPr/>
          <p:nvPr/>
        </p:nvSpPr>
        <p:spPr>
          <a:xfrm rot="5400000">
            <a:off x="5822464" y="5349240"/>
            <a:ext cx="7315200" cy="502920"/>
          </a:xfrm>
          <a:custGeom>
            <a:avLst/>
            <a:gdLst/>
            <a:ahLst/>
            <a:cxnLst/>
            <a:rect l="l" t="t" r="r" b="b"/>
            <a:pathLst>
              <a:path w="7315200" h="502920">
                <a:moveTo>
                  <a:pt x="0" y="0"/>
                </a:moveTo>
                <a:lnTo>
                  <a:pt x="7315200" y="0"/>
                </a:lnTo>
                <a:lnTo>
                  <a:pt x="7315200" y="502920"/>
                </a:lnTo>
                <a:lnTo>
                  <a:pt x="0" y="502920"/>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1" name="TextBox 11"/>
          <p:cNvSpPr txBox="1"/>
          <p:nvPr/>
        </p:nvSpPr>
        <p:spPr>
          <a:xfrm>
            <a:off x="5464684" y="490220"/>
            <a:ext cx="11045475" cy="962660"/>
          </a:xfrm>
          <a:prstGeom prst="rect">
            <a:avLst/>
          </a:prstGeom>
        </p:spPr>
        <p:txBody>
          <a:bodyPr lIns="0" tIns="0" rIns="0" bIns="0" rtlCol="0" anchor="t">
            <a:spAutoFit/>
          </a:bodyPr>
          <a:lstStyle/>
          <a:p>
            <a:pPr algn="l">
              <a:lnSpc>
                <a:spcPts val="7840"/>
              </a:lnSpc>
              <a:spcBef>
                <a:spcPct val="0"/>
              </a:spcBef>
            </a:pPr>
            <a:r>
              <a:rPr lang="en-US" sz="5600">
                <a:solidFill>
                  <a:srgbClr val="175CA2"/>
                </a:solidFill>
                <a:latin typeface="Calistoga" panose="00000500000000000000"/>
                <a:ea typeface="Calistoga" panose="00000500000000000000"/>
                <a:cs typeface="Calistoga" panose="00000500000000000000"/>
                <a:sym typeface="Calistoga" panose="00000500000000000000"/>
              </a:rPr>
              <a:t>CHƯƠNG 1 : GIỚI THIỆU</a:t>
            </a:r>
          </a:p>
        </p:txBody>
      </p:sp>
      <p:sp>
        <p:nvSpPr>
          <p:cNvPr id="12" name="TextBox 12"/>
          <p:cNvSpPr txBox="1"/>
          <p:nvPr/>
        </p:nvSpPr>
        <p:spPr>
          <a:xfrm>
            <a:off x="864746" y="3997070"/>
            <a:ext cx="7840578" cy="3967480"/>
          </a:xfrm>
          <a:prstGeom prst="rect">
            <a:avLst/>
          </a:prstGeom>
        </p:spPr>
        <p:txBody>
          <a:bodyPr lIns="0" tIns="0" rIns="0" bIns="0" rtlCol="0" anchor="t">
            <a:spAutoFit/>
          </a:bodyPr>
          <a:lstStyle/>
          <a:p>
            <a:pPr marL="604520" lvl="1" indent="-302260" algn="just">
              <a:lnSpc>
                <a:spcPts val="3920"/>
              </a:lnSpc>
              <a:buFont typeface="Arial" panose="020B0604020202020204"/>
              <a:buChar char="•"/>
            </a:pPr>
            <a:r>
              <a:rPr lang="en-US" sz="2800">
                <a:solidFill>
                  <a:srgbClr val="2E353D"/>
                </a:solidFill>
                <a:latin typeface="Times New Roman" panose="02020603050405020304"/>
                <a:ea typeface="Times New Roman" panose="02020603050405020304"/>
                <a:cs typeface="Times New Roman" panose="02020603050405020304"/>
                <a:sym typeface="Times New Roman" panose="02020603050405020304"/>
              </a:rPr>
              <a:t>Lập lịch CPU là chức năng quan trọng của hệ điều hành giúp phân bổ tài nguyên khi có nhiều tiến trình. </a:t>
            </a:r>
          </a:p>
          <a:p>
            <a:pPr marL="604520" lvl="1" indent="-302260" algn="just">
              <a:lnSpc>
                <a:spcPts val="3920"/>
              </a:lnSpc>
              <a:buFont typeface="Arial" panose="020B0604020202020204"/>
              <a:buChar char="•"/>
            </a:pPr>
            <a:r>
              <a:rPr lang="en-US" sz="2800">
                <a:solidFill>
                  <a:srgbClr val="2E353D"/>
                </a:solidFill>
                <a:latin typeface="Times New Roman" panose="02020603050405020304"/>
                <a:ea typeface="Times New Roman" panose="02020603050405020304"/>
                <a:cs typeface="Times New Roman" panose="02020603050405020304"/>
                <a:sym typeface="Times New Roman" panose="02020603050405020304"/>
              </a:rPr>
              <a:t>Hai thuật toán cơ bản là FCFS và Priority giúp minh họa rõ cách điều phối CPU. </a:t>
            </a:r>
          </a:p>
          <a:p>
            <a:pPr marL="604520" lvl="1" indent="-302260" algn="just">
              <a:lnSpc>
                <a:spcPts val="3920"/>
              </a:lnSpc>
              <a:spcBef>
                <a:spcPct val="0"/>
              </a:spcBef>
              <a:buFont typeface="Arial" panose="020B0604020202020204"/>
              <a:buChar char="•"/>
            </a:pPr>
            <a:r>
              <a:rPr lang="en-US" sz="2800">
                <a:solidFill>
                  <a:srgbClr val="2E353D"/>
                </a:solidFill>
                <a:latin typeface="Times New Roman" panose="02020603050405020304"/>
                <a:ea typeface="Times New Roman" panose="02020603050405020304"/>
                <a:cs typeface="Times New Roman" panose="02020603050405020304"/>
                <a:sym typeface="Times New Roman" panose="02020603050405020304"/>
              </a:rPr>
              <a:t>Tuy nhiên, việc tính toán thủ công khó và thiếu trực quan, nên cần xây dựng ứng dụng GUI để mô phỏng.</a:t>
            </a:r>
          </a:p>
        </p:txBody>
      </p:sp>
      <p:sp>
        <p:nvSpPr>
          <p:cNvPr id="13" name="TextBox 13"/>
          <p:cNvSpPr txBox="1"/>
          <p:nvPr/>
        </p:nvSpPr>
        <p:spPr>
          <a:xfrm>
            <a:off x="10254804" y="3997070"/>
            <a:ext cx="7840578" cy="2481580"/>
          </a:xfrm>
          <a:prstGeom prst="rect">
            <a:avLst/>
          </a:prstGeom>
        </p:spPr>
        <p:txBody>
          <a:bodyPr lIns="0" tIns="0" rIns="0" bIns="0" rtlCol="0" anchor="t">
            <a:spAutoFit/>
          </a:bodyPr>
          <a:lstStyle/>
          <a:p>
            <a:pPr algn="just">
              <a:lnSpc>
                <a:spcPts val="3920"/>
              </a:lnSpc>
            </a:pPr>
            <a:r>
              <a:rPr lang="en-US" sz="2800" b="1">
                <a:solidFill>
                  <a:srgbClr val="2E353D"/>
                </a:solidFill>
                <a:latin typeface="Times New Roman Bold" panose="02020803070505020304"/>
                <a:ea typeface="Times New Roman Bold" panose="02020803070505020304"/>
                <a:cs typeface="Times New Roman Bold" panose="02020803070505020304"/>
                <a:sym typeface="Times New Roman Bold" panose="02020803070505020304"/>
              </a:rPr>
              <a:t>Xây dựng phần mềm có giao diện đồ họa giúp:</a:t>
            </a:r>
          </a:p>
          <a:p>
            <a:pPr marL="604520" lvl="1" indent="-302260" algn="just">
              <a:lnSpc>
                <a:spcPts val="3920"/>
              </a:lnSpc>
              <a:buFont typeface="Arial" panose="020B0604020202020204"/>
              <a:buChar char="•"/>
            </a:pPr>
            <a:r>
              <a:rPr lang="en-US" sz="2800">
                <a:solidFill>
                  <a:srgbClr val="2E353D"/>
                </a:solidFill>
                <a:latin typeface="Times New Roman" panose="02020603050405020304"/>
                <a:ea typeface="Times New Roman" panose="02020603050405020304"/>
                <a:cs typeface="Times New Roman" panose="02020603050405020304"/>
                <a:sym typeface="Times New Roman" panose="02020603050405020304"/>
              </a:rPr>
              <a:t>Tự động tính toán các thuật toán lập lịch </a:t>
            </a:r>
          </a:p>
          <a:p>
            <a:pPr marL="604520" lvl="1" indent="-302260" algn="just">
              <a:lnSpc>
                <a:spcPts val="3920"/>
              </a:lnSpc>
              <a:buFont typeface="Arial" panose="020B0604020202020204"/>
              <a:buChar char="•"/>
            </a:pPr>
            <a:r>
              <a:rPr lang="en-US" sz="2800">
                <a:solidFill>
                  <a:srgbClr val="2E353D"/>
                </a:solidFill>
                <a:latin typeface="Times New Roman" panose="02020603050405020304"/>
                <a:ea typeface="Times New Roman" panose="02020603050405020304"/>
                <a:cs typeface="Times New Roman" panose="02020603050405020304"/>
                <a:sym typeface="Times New Roman" panose="02020603050405020304"/>
              </a:rPr>
              <a:t>Hiển thị biểu đồ Gantt trực quan </a:t>
            </a:r>
          </a:p>
          <a:p>
            <a:pPr marL="604520" lvl="1" indent="-302260" algn="just">
              <a:lnSpc>
                <a:spcPts val="3920"/>
              </a:lnSpc>
              <a:spcBef>
                <a:spcPct val="0"/>
              </a:spcBef>
              <a:buFont typeface="Arial" panose="020B0604020202020204"/>
              <a:buChar char="•"/>
            </a:pPr>
            <a:r>
              <a:rPr lang="en-US" sz="2800">
                <a:solidFill>
                  <a:srgbClr val="2E353D"/>
                </a:solidFill>
                <a:latin typeface="Times New Roman" panose="02020603050405020304"/>
                <a:ea typeface="Times New Roman" panose="02020603050405020304"/>
                <a:cs typeface="Times New Roman" panose="02020603050405020304"/>
                <a:sym typeface="Times New Roman" panose="02020603050405020304"/>
              </a:rPr>
              <a:t>Hỗ trợ người dùng dễ hiểu và so sánh hiệu năng giữa các thuật toán</a:t>
            </a:r>
          </a:p>
        </p:txBody>
      </p:sp>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ppt_y</p:attrName>
                                        </p:attrNameLst>
                                      </p:cBhvr>
                                      <p:tavLst>
                                        <p:tav tm="0">
                                          <p:val>
                                            <p:strVal val="#ppt_y+#ppt_h*1.125000"/>
                                          </p:val>
                                        </p:tav>
                                        <p:tav tm="100000">
                                          <p:val>
                                            <p:strVal val="#ppt_y"/>
                                          </p:val>
                                        </p:tav>
                                      </p:tavLst>
                                    </p:anim>
                                    <p:animEffect transition="in" filter="wipe(up)">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p:tgtEl>
                                          <p:spTgt spid="13"/>
                                        </p:tgtEl>
                                        <p:attrNameLst>
                                          <p:attrName>ppt_y</p:attrName>
                                        </p:attrNameLst>
                                      </p:cBhvr>
                                      <p:tavLst>
                                        <p:tav tm="0">
                                          <p:val>
                                            <p:strVal val="#ppt_y+#ppt_h*1.125000"/>
                                          </p:val>
                                        </p:tav>
                                        <p:tav tm="100000">
                                          <p:val>
                                            <p:strVal val="#ppt_y"/>
                                          </p:val>
                                        </p:tav>
                                      </p:tavLst>
                                    </p:anim>
                                    <p:animEffect transition="in" filter="wipe(up)">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13" grpId="0"/>
      <p:bldP spid="13"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274908" y="6720497"/>
            <a:ext cx="3566503" cy="3566503"/>
          </a:xfrm>
          <a:custGeom>
            <a:avLst/>
            <a:gdLst/>
            <a:ahLst/>
            <a:cxnLst/>
            <a:rect l="l" t="t" r="r" b="b"/>
            <a:pathLst>
              <a:path w="3566503" h="3566503">
                <a:moveTo>
                  <a:pt x="0" y="0"/>
                </a:moveTo>
                <a:lnTo>
                  <a:pt x="3566503" y="0"/>
                </a:lnTo>
                <a:lnTo>
                  <a:pt x="3566503" y="3566503"/>
                </a:lnTo>
                <a:lnTo>
                  <a:pt x="0" y="3566503"/>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Freeform 4"/>
          <p:cNvSpPr/>
          <p:nvPr/>
        </p:nvSpPr>
        <p:spPr>
          <a:xfrm flipH="1" flipV="1">
            <a:off x="14521325" y="0"/>
            <a:ext cx="3766675" cy="3766675"/>
          </a:xfrm>
          <a:custGeom>
            <a:avLst/>
            <a:gdLst/>
            <a:ahLst/>
            <a:cxnLst/>
            <a:rect l="l" t="t" r="r" b="b"/>
            <a:pathLst>
              <a:path w="3766675" h="3766675">
                <a:moveTo>
                  <a:pt x="3766675" y="3766675"/>
                </a:moveTo>
                <a:lnTo>
                  <a:pt x="0" y="3766675"/>
                </a:lnTo>
                <a:lnTo>
                  <a:pt x="0" y="0"/>
                </a:lnTo>
                <a:lnTo>
                  <a:pt x="3766675" y="0"/>
                </a:lnTo>
                <a:lnTo>
                  <a:pt x="3766675" y="3766675"/>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5" name="Group 5"/>
          <p:cNvGrpSpPr/>
          <p:nvPr/>
        </p:nvGrpSpPr>
        <p:grpSpPr>
          <a:xfrm>
            <a:off x="5083243" y="2245571"/>
            <a:ext cx="7159329" cy="1044509"/>
            <a:chOff x="0" y="0"/>
            <a:chExt cx="9545772" cy="1392679"/>
          </a:xfrm>
        </p:grpSpPr>
        <p:sp>
          <p:nvSpPr>
            <p:cNvPr id="6" name="Freeform 6"/>
            <p:cNvSpPr/>
            <p:nvPr/>
          </p:nvSpPr>
          <p:spPr>
            <a:xfrm>
              <a:off x="63400" y="0"/>
              <a:ext cx="9418972" cy="1392679"/>
            </a:xfrm>
            <a:custGeom>
              <a:avLst/>
              <a:gdLst/>
              <a:ahLst/>
              <a:cxnLst/>
              <a:rect l="l" t="t" r="r" b="b"/>
              <a:pathLst>
                <a:path w="9418972" h="1392679">
                  <a:moveTo>
                    <a:pt x="0" y="0"/>
                  </a:moveTo>
                  <a:lnTo>
                    <a:pt x="9418972" y="0"/>
                  </a:lnTo>
                  <a:lnTo>
                    <a:pt x="9418972" y="1392679"/>
                  </a:lnTo>
                  <a:lnTo>
                    <a:pt x="0" y="1392679"/>
                  </a:lnTo>
                  <a:lnTo>
                    <a:pt x="0" y="0"/>
                  </a:lnTo>
                  <a:close/>
                </a:path>
              </a:pathLst>
            </a:custGeom>
            <a:blipFill>
              <a:blip r:embed="rId5"/>
              <a:stretch>
                <a:fillRect t="-636" b="-636"/>
              </a:stretch>
            </a:blipFill>
          </p:spPr>
        </p:sp>
        <p:sp>
          <p:nvSpPr>
            <p:cNvPr id="7" name="TextBox 7"/>
            <p:cNvSpPr txBox="1"/>
            <p:nvPr/>
          </p:nvSpPr>
          <p:spPr>
            <a:xfrm>
              <a:off x="0" y="301157"/>
              <a:ext cx="9545772" cy="704639"/>
            </a:xfrm>
            <a:prstGeom prst="rect">
              <a:avLst/>
            </a:prstGeom>
          </p:spPr>
          <p:txBody>
            <a:bodyPr lIns="0" tIns="0" rIns="0" bIns="0" rtlCol="0" anchor="t">
              <a:spAutoFit/>
            </a:bodyPr>
            <a:lstStyle/>
            <a:p>
              <a:pPr algn="ctr">
                <a:lnSpc>
                  <a:spcPts val="4340"/>
                </a:lnSpc>
                <a:spcBef>
                  <a:spcPct val="0"/>
                </a:spcBef>
              </a:pPr>
              <a:r>
                <a:rPr lang="en-US" sz="3100" b="1">
                  <a:solidFill>
                    <a:srgbClr val="FFFFFF"/>
                  </a:solidFill>
                  <a:latin typeface="Times New Roman Bold" panose="02020803070505020304"/>
                  <a:ea typeface="Times New Roman Bold" panose="02020803070505020304"/>
                  <a:cs typeface="Times New Roman Bold" panose="02020803070505020304"/>
                  <a:sym typeface="Times New Roman Bold" panose="02020803070505020304"/>
                </a:rPr>
                <a:t>2.1 First-Come, First-Served (FCFS)</a:t>
              </a:r>
            </a:p>
          </p:txBody>
        </p:sp>
      </p:grpSp>
      <p:grpSp>
        <p:nvGrpSpPr>
          <p:cNvPr id="8" name="Group 8"/>
          <p:cNvGrpSpPr>
            <a:grpSpLocks noChangeAspect="1"/>
          </p:cNvGrpSpPr>
          <p:nvPr/>
        </p:nvGrpSpPr>
        <p:grpSpPr>
          <a:xfrm>
            <a:off x="9387688" y="3503850"/>
            <a:ext cx="9146584" cy="5246370"/>
            <a:chOff x="0" y="0"/>
            <a:chExt cx="7981950" cy="4578350"/>
          </a:xfrm>
        </p:grpSpPr>
        <p:sp>
          <p:nvSpPr>
            <p:cNvPr id="9" name="Freeform 9"/>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10" name="Freeform 10"/>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11" name="Freeform 11"/>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12" name="Freeform 12"/>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13" name="Freeform 13"/>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6"/>
              <a:stretch>
                <a:fillRect t="-6094" b="-6094"/>
              </a:stretch>
            </a:blipFill>
          </p:spPr>
        </p:sp>
      </p:grpSp>
      <p:sp>
        <p:nvSpPr>
          <p:cNvPr id="14" name="TextBox 14"/>
          <p:cNvSpPr txBox="1"/>
          <p:nvPr/>
        </p:nvSpPr>
        <p:spPr>
          <a:xfrm>
            <a:off x="3970123" y="914400"/>
            <a:ext cx="11045475" cy="962660"/>
          </a:xfrm>
          <a:prstGeom prst="rect">
            <a:avLst/>
          </a:prstGeom>
        </p:spPr>
        <p:txBody>
          <a:bodyPr lIns="0" tIns="0" rIns="0" bIns="0" rtlCol="0" anchor="t">
            <a:spAutoFit/>
          </a:bodyPr>
          <a:lstStyle/>
          <a:p>
            <a:pPr algn="l">
              <a:lnSpc>
                <a:spcPts val="7840"/>
              </a:lnSpc>
              <a:spcBef>
                <a:spcPct val="0"/>
              </a:spcBef>
            </a:pPr>
            <a:r>
              <a:rPr lang="en-US" sz="5600">
                <a:solidFill>
                  <a:srgbClr val="175CA2"/>
                </a:solidFill>
                <a:latin typeface="Calistoga" panose="00000500000000000000"/>
                <a:ea typeface="Calistoga" panose="00000500000000000000"/>
                <a:cs typeface="Calistoga" panose="00000500000000000000"/>
                <a:sym typeface="Calistoga" panose="00000500000000000000"/>
              </a:rPr>
              <a:t>CHƯƠNG 2 : CƠ SỞ LÝ THUYẾT </a:t>
            </a:r>
          </a:p>
        </p:txBody>
      </p:sp>
      <p:grpSp>
        <p:nvGrpSpPr>
          <p:cNvPr id="15" name="Group 15"/>
          <p:cNvGrpSpPr/>
          <p:nvPr/>
        </p:nvGrpSpPr>
        <p:grpSpPr>
          <a:xfrm>
            <a:off x="273309" y="3503850"/>
            <a:ext cx="9412341" cy="2405380"/>
            <a:chOff x="0" y="0"/>
            <a:chExt cx="12549788" cy="3207174"/>
          </a:xfrm>
        </p:grpSpPr>
        <p:sp>
          <p:nvSpPr>
            <p:cNvPr id="16" name="Freeform 16"/>
            <p:cNvSpPr/>
            <p:nvPr/>
          </p:nvSpPr>
          <p:spPr>
            <a:xfrm>
              <a:off x="0" y="0"/>
              <a:ext cx="1007188" cy="1007188"/>
            </a:xfrm>
            <a:custGeom>
              <a:avLst/>
              <a:gdLst/>
              <a:ahLst/>
              <a:cxnLst/>
              <a:rect l="l" t="t" r="r" b="b"/>
              <a:pathLst>
                <a:path w="1007188" h="1007188">
                  <a:moveTo>
                    <a:pt x="0" y="0"/>
                  </a:moveTo>
                  <a:lnTo>
                    <a:pt x="1007188" y="0"/>
                  </a:lnTo>
                  <a:lnTo>
                    <a:pt x="1007188" y="1007188"/>
                  </a:lnTo>
                  <a:lnTo>
                    <a:pt x="0" y="1007188"/>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7" name="TextBox 17"/>
            <p:cNvSpPr txBox="1"/>
            <p:nvPr/>
          </p:nvSpPr>
          <p:spPr>
            <a:xfrm>
              <a:off x="1510782" y="-76200"/>
              <a:ext cx="11039006" cy="3283374"/>
            </a:xfrm>
            <a:prstGeom prst="rect">
              <a:avLst/>
            </a:prstGeom>
          </p:spPr>
          <p:txBody>
            <a:bodyPr lIns="0" tIns="0" rIns="0" bIns="0" rtlCol="0" anchor="t">
              <a:spAutoFit/>
            </a:bodyPr>
            <a:lstStyle/>
            <a:p>
              <a:pPr algn="just">
                <a:lnSpc>
                  <a:spcPts val="3920"/>
                </a:lnSpc>
                <a:spcBef>
                  <a:spcPct val="0"/>
                </a:spcBef>
              </a:pPr>
              <a:r>
                <a:rPr lang="en-US" sz="2800">
                  <a:solidFill>
                    <a:srgbClr val="2E353D"/>
                  </a:solidFill>
                  <a:latin typeface="Times New Roman" panose="02020603050405020304"/>
                  <a:ea typeface="Times New Roman" panose="02020603050405020304"/>
                  <a:cs typeface="Times New Roman" panose="02020603050405020304"/>
                  <a:sym typeface="Times New Roman" panose="02020603050405020304"/>
                </a:rPr>
                <a:t>Hiểu đơn giản nghĩa của thuật toán này là: đến trước, phục vụ trước. Với giải thuật này, nó ứng dụng chế độ nonpreemptive – tức là một tiến trình sẽ chiếm giữ CPU cho đến khi nào nó trả CPU, thông qua phương thức ngắt hay yêu cầu nhập/xuất xuất hiện.</a:t>
              </a:r>
            </a:p>
          </p:txBody>
        </p:sp>
      </p:grpSp>
      <p:grpSp>
        <p:nvGrpSpPr>
          <p:cNvPr id="18" name="Group 18"/>
          <p:cNvGrpSpPr/>
          <p:nvPr/>
        </p:nvGrpSpPr>
        <p:grpSpPr>
          <a:xfrm>
            <a:off x="273309" y="6118781"/>
            <a:ext cx="9412341" cy="2405380"/>
            <a:chOff x="0" y="0"/>
            <a:chExt cx="12549788" cy="3207174"/>
          </a:xfrm>
        </p:grpSpPr>
        <p:sp>
          <p:nvSpPr>
            <p:cNvPr id="19" name="Freeform 19"/>
            <p:cNvSpPr/>
            <p:nvPr/>
          </p:nvSpPr>
          <p:spPr>
            <a:xfrm>
              <a:off x="0" y="0"/>
              <a:ext cx="1007188" cy="1007188"/>
            </a:xfrm>
            <a:custGeom>
              <a:avLst/>
              <a:gdLst/>
              <a:ahLst/>
              <a:cxnLst/>
              <a:rect l="l" t="t" r="r" b="b"/>
              <a:pathLst>
                <a:path w="1007188" h="1007188">
                  <a:moveTo>
                    <a:pt x="0" y="0"/>
                  </a:moveTo>
                  <a:lnTo>
                    <a:pt x="1007188" y="0"/>
                  </a:lnTo>
                  <a:lnTo>
                    <a:pt x="1007188" y="1007188"/>
                  </a:lnTo>
                  <a:lnTo>
                    <a:pt x="0" y="1007188"/>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20" name="TextBox 20"/>
            <p:cNvSpPr txBox="1"/>
            <p:nvPr/>
          </p:nvSpPr>
          <p:spPr>
            <a:xfrm>
              <a:off x="1510782" y="-76200"/>
              <a:ext cx="11039006" cy="3283374"/>
            </a:xfrm>
            <a:prstGeom prst="rect">
              <a:avLst/>
            </a:prstGeom>
          </p:spPr>
          <p:txBody>
            <a:bodyPr lIns="0" tIns="0" rIns="0" bIns="0" rtlCol="0" anchor="t">
              <a:spAutoFit/>
            </a:bodyPr>
            <a:lstStyle/>
            <a:p>
              <a:pPr algn="just">
                <a:lnSpc>
                  <a:spcPts val="3920"/>
                </a:lnSpc>
                <a:spcBef>
                  <a:spcPct val="0"/>
                </a:spcBef>
              </a:pPr>
              <a:r>
                <a:rPr lang="en-US" sz="2800">
                  <a:solidFill>
                    <a:srgbClr val="2E353D"/>
                  </a:solidFill>
                  <a:latin typeface="Times New Roman" panose="02020603050405020304"/>
                  <a:ea typeface="Times New Roman" panose="02020603050405020304"/>
                  <a:cs typeface="Times New Roman" panose="02020603050405020304"/>
                  <a:sym typeface="Times New Roman" panose="02020603050405020304"/>
                </a:rPr>
                <a:t>Vậy phương thức thực hiện của FCFS trong máy tính là gì? Chính là cơ chế hàng đợi FIFO Queue (First In First Out). Để hiểu rõ hơn về Queue, bạn bắt buộc phải học qua Cấu trúc dữ liệu &amp; Giải thuật hoặc có thể tìm đọc về cơ chế này trên các tài liệu có sẵn trên mạng.</a:t>
              </a:r>
            </a:p>
          </p:txBody>
        </p:sp>
      </p:grpSp>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8887698" y="857250"/>
            <a:ext cx="3709219" cy="602748"/>
          </a:xfrm>
          <a:custGeom>
            <a:avLst/>
            <a:gdLst/>
            <a:ahLst/>
            <a:cxnLst/>
            <a:rect l="l" t="t" r="r" b="b"/>
            <a:pathLst>
              <a:path w="3709219" h="602748">
                <a:moveTo>
                  <a:pt x="0" y="0"/>
                </a:moveTo>
                <a:lnTo>
                  <a:pt x="3709220" y="0"/>
                </a:lnTo>
                <a:lnTo>
                  <a:pt x="3709220" y="602748"/>
                </a:lnTo>
                <a:lnTo>
                  <a:pt x="0" y="602748"/>
                </a:lnTo>
                <a:lnTo>
                  <a:pt x="0" y="0"/>
                </a:lnTo>
                <a:close/>
              </a:path>
            </a:pathLst>
          </a:custGeom>
          <a:blipFill>
            <a:blip r:embed="rId3">
              <a:alphaModFix amt="71000"/>
            </a:blip>
            <a:stretch>
              <a:fillRect/>
            </a:stretch>
          </a:blipFill>
        </p:spPr>
      </p:sp>
      <p:sp>
        <p:nvSpPr>
          <p:cNvPr id="4" name="Freeform 4"/>
          <p:cNvSpPr/>
          <p:nvPr/>
        </p:nvSpPr>
        <p:spPr>
          <a:xfrm flipH="1">
            <a:off x="-740476" y="-371437"/>
            <a:ext cx="14042134" cy="1228687"/>
          </a:xfrm>
          <a:custGeom>
            <a:avLst/>
            <a:gdLst/>
            <a:ahLst/>
            <a:cxnLst/>
            <a:rect l="l" t="t" r="r" b="b"/>
            <a:pathLst>
              <a:path w="14042134" h="1228687">
                <a:moveTo>
                  <a:pt x="14042134" y="0"/>
                </a:moveTo>
                <a:lnTo>
                  <a:pt x="0" y="0"/>
                </a:lnTo>
                <a:lnTo>
                  <a:pt x="0" y="1228687"/>
                </a:lnTo>
                <a:lnTo>
                  <a:pt x="14042134" y="1228687"/>
                </a:lnTo>
                <a:lnTo>
                  <a:pt x="14042134"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Freeform 5"/>
          <p:cNvSpPr/>
          <p:nvPr/>
        </p:nvSpPr>
        <p:spPr>
          <a:xfrm flipH="1">
            <a:off x="-768633" y="9725025"/>
            <a:ext cx="19825265" cy="1734711"/>
          </a:xfrm>
          <a:custGeom>
            <a:avLst/>
            <a:gdLst/>
            <a:ahLst/>
            <a:cxnLst/>
            <a:rect l="l" t="t" r="r" b="b"/>
            <a:pathLst>
              <a:path w="19825265" h="1734711">
                <a:moveTo>
                  <a:pt x="19825266" y="0"/>
                </a:moveTo>
                <a:lnTo>
                  <a:pt x="0" y="0"/>
                </a:lnTo>
                <a:lnTo>
                  <a:pt x="0" y="1734711"/>
                </a:lnTo>
                <a:lnTo>
                  <a:pt x="19825266" y="1734711"/>
                </a:lnTo>
                <a:lnTo>
                  <a:pt x="19825266"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6" name="Freeform 6"/>
          <p:cNvSpPr/>
          <p:nvPr/>
        </p:nvSpPr>
        <p:spPr>
          <a:xfrm flipH="1">
            <a:off x="12917431" y="570551"/>
            <a:ext cx="1139647" cy="343849"/>
          </a:xfrm>
          <a:custGeom>
            <a:avLst/>
            <a:gdLst/>
            <a:ahLst/>
            <a:cxnLst/>
            <a:rect l="l" t="t" r="r" b="b"/>
            <a:pathLst>
              <a:path w="1139647" h="343849">
                <a:moveTo>
                  <a:pt x="1139647" y="0"/>
                </a:moveTo>
                <a:lnTo>
                  <a:pt x="0" y="0"/>
                </a:lnTo>
                <a:lnTo>
                  <a:pt x="0" y="343849"/>
                </a:lnTo>
                <a:lnTo>
                  <a:pt x="1139647" y="343849"/>
                </a:lnTo>
                <a:lnTo>
                  <a:pt x="1139647" y="0"/>
                </a:lnTo>
                <a:close/>
              </a:path>
            </a:pathLst>
          </a:custGeom>
          <a:blipFill>
            <a:blip r:embed="rId8">
              <a:extLst>
                <a:ext uri="{96DAC541-7B7A-43D3-8B79-37D633B846F1}">
                  <asvg:svgBlip xmlns="" xmlns:asvg="http://schemas.microsoft.com/office/drawing/2016/SVG/main" r:embed="rId9"/>
                </a:ext>
              </a:extLst>
            </a:blip>
            <a:stretch>
              <a:fillRect r="-104552"/>
            </a:stretch>
          </a:blipFill>
        </p:spPr>
      </p:sp>
      <p:sp>
        <p:nvSpPr>
          <p:cNvPr id="7" name="Freeform 7"/>
          <p:cNvSpPr/>
          <p:nvPr/>
        </p:nvSpPr>
        <p:spPr>
          <a:xfrm flipH="1">
            <a:off x="1473624" y="9381176"/>
            <a:ext cx="1139647" cy="343849"/>
          </a:xfrm>
          <a:custGeom>
            <a:avLst/>
            <a:gdLst/>
            <a:ahLst/>
            <a:cxnLst/>
            <a:rect l="l" t="t" r="r" b="b"/>
            <a:pathLst>
              <a:path w="1139647" h="343849">
                <a:moveTo>
                  <a:pt x="1139646" y="0"/>
                </a:moveTo>
                <a:lnTo>
                  <a:pt x="0" y="0"/>
                </a:lnTo>
                <a:lnTo>
                  <a:pt x="0" y="343849"/>
                </a:lnTo>
                <a:lnTo>
                  <a:pt x="1139646" y="343849"/>
                </a:lnTo>
                <a:lnTo>
                  <a:pt x="1139646" y="0"/>
                </a:lnTo>
                <a:close/>
              </a:path>
            </a:pathLst>
          </a:custGeom>
          <a:blipFill>
            <a:blip r:embed="rId10">
              <a:extLst>
                <a:ext uri="{96DAC541-7B7A-43D3-8B79-37D633B846F1}">
                  <asvg:svgBlip xmlns="" xmlns:asvg="http://schemas.microsoft.com/office/drawing/2016/SVG/main" r:embed="rId11"/>
                </a:ext>
              </a:extLst>
            </a:blip>
            <a:stretch>
              <a:fillRect r="-104552"/>
            </a:stretch>
          </a:blipFill>
        </p:spPr>
      </p:sp>
      <p:grpSp>
        <p:nvGrpSpPr>
          <p:cNvPr id="8" name="Group 8"/>
          <p:cNvGrpSpPr/>
          <p:nvPr/>
        </p:nvGrpSpPr>
        <p:grpSpPr>
          <a:xfrm>
            <a:off x="5013618" y="1907451"/>
            <a:ext cx="7159329" cy="1044509"/>
            <a:chOff x="0" y="0"/>
            <a:chExt cx="9545772" cy="1392679"/>
          </a:xfrm>
        </p:grpSpPr>
        <p:sp>
          <p:nvSpPr>
            <p:cNvPr id="9" name="Freeform 9"/>
            <p:cNvSpPr/>
            <p:nvPr/>
          </p:nvSpPr>
          <p:spPr>
            <a:xfrm>
              <a:off x="63400" y="0"/>
              <a:ext cx="9418972" cy="1392679"/>
            </a:xfrm>
            <a:custGeom>
              <a:avLst/>
              <a:gdLst/>
              <a:ahLst/>
              <a:cxnLst/>
              <a:rect l="l" t="t" r="r" b="b"/>
              <a:pathLst>
                <a:path w="9418972" h="1392679">
                  <a:moveTo>
                    <a:pt x="0" y="0"/>
                  </a:moveTo>
                  <a:lnTo>
                    <a:pt x="9418972" y="0"/>
                  </a:lnTo>
                  <a:lnTo>
                    <a:pt x="9418972" y="1392679"/>
                  </a:lnTo>
                  <a:lnTo>
                    <a:pt x="0" y="1392679"/>
                  </a:lnTo>
                  <a:lnTo>
                    <a:pt x="0" y="0"/>
                  </a:lnTo>
                  <a:close/>
                </a:path>
              </a:pathLst>
            </a:custGeom>
            <a:blipFill>
              <a:blip r:embed="rId12"/>
              <a:stretch>
                <a:fillRect t="-636" b="-636"/>
              </a:stretch>
            </a:blipFill>
          </p:spPr>
        </p:sp>
        <p:sp>
          <p:nvSpPr>
            <p:cNvPr id="10" name="TextBox 10"/>
            <p:cNvSpPr txBox="1"/>
            <p:nvPr/>
          </p:nvSpPr>
          <p:spPr>
            <a:xfrm>
              <a:off x="0" y="301157"/>
              <a:ext cx="9545772" cy="704639"/>
            </a:xfrm>
            <a:prstGeom prst="rect">
              <a:avLst/>
            </a:prstGeom>
          </p:spPr>
          <p:txBody>
            <a:bodyPr lIns="0" tIns="0" rIns="0" bIns="0" rtlCol="0" anchor="t">
              <a:spAutoFit/>
            </a:bodyPr>
            <a:lstStyle/>
            <a:p>
              <a:pPr algn="ctr">
                <a:lnSpc>
                  <a:spcPts val="4340"/>
                </a:lnSpc>
                <a:spcBef>
                  <a:spcPct val="0"/>
                </a:spcBef>
              </a:pPr>
              <a:r>
                <a:rPr lang="en-US" sz="3100" b="1">
                  <a:solidFill>
                    <a:srgbClr val="FFFFFF"/>
                  </a:solidFill>
                  <a:latin typeface="Times New Roman Bold" panose="02020803070505020304"/>
                  <a:ea typeface="Times New Roman Bold" panose="02020803070505020304"/>
                  <a:cs typeface="Times New Roman Bold" panose="02020803070505020304"/>
                  <a:sym typeface="Times New Roman Bold" panose="02020803070505020304"/>
                </a:rPr>
                <a:t>2.1 First-Come, First-Served (FCFS)</a:t>
              </a:r>
            </a:p>
          </p:txBody>
        </p:sp>
      </p:grpSp>
      <p:graphicFrame>
        <p:nvGraphicFramePr>
          <p:cNvPr id="11" name="Table 11"/>
          <p:cNvGraphicFramePr>
            <a:graphicFrameLocks noGrp="1"/>
          </p:cNvGraphicFramePr>
          <p:nvPr>
            <p:extLst>
              <p:ext uri="{D42A27DB-BD31-4B8C-83A1-F6EECF244321}">
                <p14:modId xmlns:p14="http://schemas.microsoft.com/office/powerpoint/2010/main" val="8150027"/>
              </p:ext>
            </p:extLst>
          </p:nvPr>
        </p:nvGraphicFramePr>
        <p:xfrm>
          <a:off x="7541074" y="4029392"/>
          <a:ext cx="3903572" cy="3543300"/>
        </p:xfrm>
        <a:graphic>
          <a:graphicData uri="http://schemas.openxmlformats.org/drawingml/2006/table">
            <a:tbl>
              <a:tblPr/>
              <a:tblGrid>
                <a:gridCol w="1951786">
                  <a:extLst>
                    <a:ext uri="{9D8B030D-6E8A-4147-A177-3AD203B41FA5}">
                      <a16:colId xmlns:a16="http://schemas.microsoft.com/office/drawing/2014/main" val="20000"/>
                    </a:ext>
                  </a:extLst>
                </a:gridCol>
                <a:gridCol w="1951786">
                  <a:extLst>
                    <a:ext uri="{9D8B030D-6E8A-4147-A177-3AD203B41FA5}">
                      <a16:colId xmlns:a16="http://schemas.microsoft.com/office/drawing/2014/main" val="20001"/>
                    </a:ext>
                  </a:extLst>
                </a:gridCol>
              </a:tblGrid>
              <a:tr h="885825">
                <a:tc>
                  <a:txBody>
                    <a:bodyPr/>
                    <a:lstStyle/>
                    <a:p>
                      <a:pPr algn="ctr">
                        <a:lnSpc>
                          <a:spcPts val="3220"/>
                        </a:lnSpc>
                        <a:defRPr/>
                      </a:pPr>
                      <a:r>
                        <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Process</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220"/>
                        </a:lnSpc>
                        <a:defRPr/>
                      </a:pPr>
                      <a:r>
                        <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Burst time </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85825">
                <a:tc>
                  <a:txBody>
                    <a:bodyPr/>
                    <a:lstStyle/>
                    <a:p>
                      <a:pPr algn="ctr">
                        <a:lnSpc>
                          <a:spcPts val="3220"/>
                        </a:lnSpc>
                        <a:defRPr/>
                      </a:pPr>
                      <a:r>
                        <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P1</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220"/>
                        </a:lnSpc>
                        <a:defRPr/>
                      </a:pPr>
                      <a:r>
                        <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24</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85825">
                <a:tc>
                  <a:txBody>
                    <a:bodyPr/>
                    <a:lstStyle/>
                    <a:p>
                      <a:pPr algn="ctr">
                        <a:lnSpc>
                          <a:spcPts val="3220"/>
                        </a:lnSpc>
                        <a:defRPr/>
                      </a:pPr>
                      <a:r>
                        <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P2</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220"/>
                        </a:lnSpc>
                        <a:defRPr/>
                      </a:pPr>
                      <a:r>
                        <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3</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85825">
                <a:tc>
                  <a:txBody>
                    <a:bodyPr/>
                    <a:lstStyle/>
                    <a:p>
                      <a:pPr algn="ctr">
                        <a:lnSpc>
                          <a:spcPts val="3220"/>
                        </a:lnSpc>
                        <a:defRPr/>
                      </a:pPr>
                      <a:r>
                        <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P3</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220"/>
                        </a:lnSpc>
                        <a:defRPr/>
                      </a:pPr>
                      <a:r>
                        <a:rPr lang="en-US" sz="2300" b="1" dirty="0">
                          <a:solidFill>
                            <a:srgbClr val="000000"/>
                          </a:solidFill>
                          <a:latin typeface="Times New Roman Bold" panose="02020803070505020304"/>
                          <a:cs typeface="Times New Roman Bold" panose="02020803070505020304"/>
                          <a:sym typeface="Times New Roman Bold" panose="02020803070505020304"/>
                        </a:rPr>
                        <a:t>3</a:t>
                      </a:r>
                      <a:endParaRPr lang="en-US" sz="1100" dirty="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Freeform 12"/>
          <p:cNvSpPr/>
          <p:nvPr/>
        </p:nvSpPr>
        <p:spPr>
          <a:xfrm>
            <a:off x="3358542" y="8000293"/>
            <a:ext cx="12669401" cy="1709364"/>
          </a:xfrm>
          <a:custGeom>
            <a:avLst/>
            <a:gdLst/>
            <a:ahLst/>
            <a:cxnLst/>
            <a:rect l="l" t="t" r="r" b="b"/>
            <a:pathLst>
              <a:path w="12669401" h="1709364">
                <a:moveTo>
                  <a:pt x="0" y="0"/>
                </a:moveTo>
                <a:lnTo>
                  <a:pt x="12669401" y="0"/>
                </a:lnTo>
                <a:lnTo>
                  <a:pt x="12669401" y="1709364"/>
                </a:lnTo>
                <a:lnTo>
                  <a:pt x="0" y="1709364"/>
                </a:lnTo>
                <a:lnTo>
                  <a:pt x="0" y="0"/>
                </a:lnTo>
                <a:close/>
              </a:path>
            </a:pathLst>
          </a:custGeom>
          <a:blipFill>
            <a:blip r:embed="rId13"/>
            <a:stretch>
              <a:fillRect/>
            </a:stretch>
          </a:blipFill>
        </p:spPr>
      </p:sp>
      <p:grpSp>
        <p:nvGrpSpPr>
          <p:cNvPr id="13" name="Group 13"/>
          <p:cNvGrpSpPr/>
          <p:nvPr/>
        </p:nvGrpSpPr>
        <p:grpSpPr>
          <a:xfrm>
            <a:off x="488900" y="2980535"/>
            <a:ext cx="6962447" cy="1810385"/>
            <a:chOff x="0" y="0"/>
            <a:chExt cx="9283262" cy="2413847"/>
          </a:xfrm>
        </p:grpSpPr>
        <p:sp>
          <p:nvSpPr>
            <p:cNvPr id="14" name="Freeform 14"/>
            <p:cNvSpPr/>
            <p:nvPr/>
          </p:nvSpPr>
          <p:spPr>
            <a:xfrm>
              <a:off x="0" y="0"/>
              <a:ext cx="1076813" cy="1076813"/>
            </a:xfrm>
            <a:custGeom>
              <a:avLst/>
              <a:gdLst/>
              <a:ahLst/>
              <a:cxnLst/>
              <a:rect l="l" t="t" r="r" b="b"/>
              <a:pathLst>
                <a:path w="1076813" h="1076813">
                  <a:moveTo>
                    <a:pt x="0" y="0"/>
                  </a:moveTo>
                  <a:lnTo>
                    <a:pt x="1076813" y="0"/>
                  </a:lnTo>
                  <a:lnTo>
                    <a:pt x="1076813" y="1076813"/>
                  </a:lnTo>
                  <a:lnTo>
                    <a:pt x="0" y="1076813"/>
                  </a:lnTo>
                  <a:lnTo>
                    <a:pt x="0" y="0"/>
                  </a:lnTo>
                  <a:close/>
                </a:path>
              </a:pathLst>
            </a:custGeom>
            <a:blipFill>
              <a:blip r:embed="rId14">
                <a:extLst>
                  <a:ext uri="{96DAC541-7B7A-43D3-8B79-37D633B846F1}">
                    <asvg:svgBlip xmlns="" xmlns:asvg="http://schemas.microsoft.com/office/drawing/2016/SVG/main" r:embed="rId15"/>
                  </a:ext>
                </a:extLst>
              </a:blip>
              <a:stretch>
                <a:fillRect/>
              </a:stretch>
            </a:blipFill>
          </p:spPr>
        </p:sp>
        <p:sp>
          <p:nvSpPr>
            <p:cNvPr id="15" name="TextBox 15"/>
            <p:cNvSpPr txBox="1"/>
            <p:nvPr/>
          </p:nvSpPr>
          <p:spPr>
            <a:xfrm>
              <a:off x="1219618" y="-66675"/>
              <a:ext cx="8063644" cy="2480522"/>
            </a:xfrm>
            <a:prstGeom prst="rect">
              <a:avLst/>
            </a:prstGeom>
          </p:spPr>
          <p:txBody>
            <a:bodyPr lIns="0" tIns="0" rIns="0" bIns="0" rtlCol="0" anchor="t">
              <a:spAutoFit/>
            </a:bodyPr>
            <a:lstStyle/>
            <a:p>
              <a:pPr algn="just">
                <a:lnSpc>
                  <a:spcPts val="3640"/>
                </a:lnSpc>
                <a:spcBef>
                  <a:spcPct val="0"/>
                </a:spcBef>
              </a:pP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Lấy</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một</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ví</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dụ</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để</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dễ</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hình</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dung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vấn</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đề</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ta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có</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ba</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tiến</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trình</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được</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tuần</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tự</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đưa</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vào</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với</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các</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tên</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gọi</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là</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P1 P2 P3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và</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Burst time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của</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chúng</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lần</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lượt</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là</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24 3 </a:t>
              </a:r>
              <a:r>
                <a:rPr lang="en-US" sz="2600" dirty="0" smtClean="0">
                  <a:solidFill>
                    <a:srgbClr val="2E353D"/>
                  </a:solidFill>
                  <a:latin typeface="Times New Roman" panose="02020603050405020304"/>
                  <a:ea typeface="Times New Roman" panose="02020603050405020304"/>
                  <a:cs typeface="Times New Roman" panose="02020603050405020304"/>
                  <a:sym typeface="Times New Roman" panose="02020603050405020304"/>
                </a:rPr>
                <a:t>3.</a:t>
              </a:r>
              <a:endPar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6" name="Group 16"/>
          <p:cNvGrpSpPr/>
          <p:nvPr/>
        </p:nvGrpSpPr>
        <p:grpSpPr>
          <a:xfrm>
            <a:off x="488900" y="5011558"/>
            <a:ext cx="6962447" cy="1762760"/>
            <a:chOff x="0" y="0"/>
            <a:chExt cx="9283262" cy="2350347"/>
          </a:xfrm>
        </p:grpSpPr>
        <p:sp>
          <p:nvSpPr>
            <p:cNvPr id="17" name="Freeform 17"/>
            <p:cNvSpPr/>
            <p:nvPr/>
          </p:nvSpPr>
          <p:spPr>
            <a:xfrm>
              <a:off x="0" y="0"/>
              <a:ext cx="1076813" cy="1076813"/>
            </a:xfrm>
            <a:custGeom>
              <a:avLst/>
              <a:gdLst/>
              <a:ahLst/>
              <a:cxnLst/>
              <a:rect l="l" t="t" r="r" b="b"/>
              <a:pathLst>
                <a:path w="1076813" h="1076813">
                  <a:moveTo>
                    <a:pt x="0" y="0"/>
                  </a:moveTo>
                  <a:lnTo>
                    <a:pt x="1076813" y="0"/>
                  </a:lnTo>
                  <a:lnTo>
                    <a:pt x="1076813" y="1076813"/>
                  </a:lnTo>
                  <a:lnTo>
                    <a:pt x="0" y="1076813"/>
                  </a:lnTo>
                  <a:lnTo>
                    <a:pt x="0" y="0"/>
                  </a:lnTo>
                  <a:close/>
                </a:path>
              </a:pathLst>
            </a:custGeom>
            <a:blipFill>
              <a:blip r:embed="rId14">
                <a:extLst>
                  <a:ext uri="{96DAC541-7B7A-43D3-8B79-37D633B846F1}">
                    <asvg:svgBlip xmlns="" xmlns:asvg="http://schemas.microsoft.com/office/drawing/2016/SVG/main" r:embed="rId15"/>
                  </a:ext>
                </a:extLst>
              </a:blip>
              <a:stretch>
                <a:fillRect/>
              </a:stretch>
            </a:blipFill>
          </p:spPr>
        </p:sp>
        <p:sp>
          <p:nvSpPr>
            <p:cNvPr id="18" name="TextBox 18"/>
            <p:cNvSpPr txBox="1"/>
            <p:nvPr/>
          </p:nvSpPr>
          <p:spPr>
            <a:xfrm>
              <a:off x="1219618" y="-66675"/>
              <a:ext cx="8063644" cy="2417022"/>
            </a:xfrm>
            <a:prstGeom prst="rect">
              <a:avLst/>
            </a:prstGeom>
          </p:spPr>
          <p:txBody>
            <a:bodyPr lIns="0" tIns="0" rIns="0" bIns="0" rtlCol="0" anchor="t">
              <a:spAutoFit/>
            </a:bodyPr>
            <a:lstStyle/>
            <a:p>
              <a:pPr algn="just">
                <a:lnSpc>
                  <a:spcPts val="3640"/>
                </a:lnSpc>
                <a:spcBef>
                  <a:spcPct val="0"/>
                </a:spcBef>
              </a:pP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Ta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sẽ</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ứng</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dụng</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giản</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đồ</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Gantt –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bạn</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có</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thể</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đọc</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thêm</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về</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nó</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tại</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Wikipedia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để</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có</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được</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sơ</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đồ</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cụ</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thể</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nhằm</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giải</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quyết</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bài</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toán</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hiệu</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quả</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 </a:t>
              </a:r>
              <a:r>
                <a:rPr lang="en-US" sz="2600" dirty="0" err="1">
                  <a:solidFill>
                    <a:srgbClr val="2E353D"/>
                  </a:solidFill>
                  <a:latin typeface="Times New Roman" panose="02020603050405020304"/>
                  <a:ea typeface="Times New Roman" panose="02020603050405020304"/>
                  <a:cs typeface="Times New Roman" panose="02020603050405020304"/>
                  <a:sym typeface="Times New Roman" panose="02020603050405020304"/>
                </a:rPr>
                <a:t>hơn</a:t>
              </a:r>
              <a:r>
                <a:rPr lang="en-US" sz="2600" dirty="0">
                  <a:solidFill>
                    <a:srgbClr val="2E353D"/>
                  </a:solidFill>
                  <a:latin typeface="Times New Roman" panose="02020603050405020304"/>
                  <a:ea typeface="Times New Roman" panose="02020603050405020304"/>
                  <a:cs typeface="Times New Roman" panose="02020603050405020304"/>
                  <a:sym typeface="Times New Roman" panose="02020603050405020304"/>
                </a:rPr>
                <a:t>.</a:t>
              </a:r>
            </a:p>
          </p:txBody>
        </p:sp>
      </p:grpSp>
      <p:grpSp>
        <p:nvGrpSpPr>
          <p:cNvPr id="19" name="Group 19"/>
          <p:cNvGrpSpPr/>
          <p:nvPr/>
        </p:nvGrpSpPr>
        <p:grpSpPr>
          <a:xfrm>
            <a:off x="488900" y="6802893"/>
            <a:ext cx="6962447" cy="1305560"/>
            <a:chOff x="0" y="0"/>
            <a:chExt cx="9283262" cy="1740747"/>
          </a:xfrm>
        </p:grpSpPr>
        <p:sp>
          <p:nvSpPr>
            <p:cNvPr id="20" name="Freeform 20"/>
            <p:cNvSpPr/>
            <p:nvPr/>
          </p:nvSpPr>
          <p:spPr>
            <a:xfrm>
              <a:off x="0" y="0"/>
              <a:ext cx="1076813" cy="1076813"/>
            </a:xfrm>
            <a:custGeom>
              <a:avLst/>
              <a:gdLst/>
              <a:ahLst/>
              <a:cxnLst/>
              <a:rect l="l" t="t" r="r" b="b"/>
              <a:pathLst>
                <a:path w="1076813" h="1076813">
                  <a:moveTo>
                    <a:pt x="0" y="0"/>
                  </a:moveTo>
                  <a:lnTo>
                    <a:pt x="1076813" y="0"/>
                  </a:lnTo>
                  <a:lnTo>
                    <a:pt x="1076813" y="1076813"/>
                  </a:lnTo>
                  <a:lnTo>
                    <a:pt x="0" y="1076813"/>
                  </a:lnTo>
                  <a:lnTo>
                    <a:pt x="0" y="0"/>
                  </a:lnTo>
                  <a:close/>
                </a:path>
              </a:pathLst>
            </a:custGeom>
            <a:blipFill>
              <a:blip r:embed="rId14">
                <a:extLst>
                  <a:ext uri="{96DAC541-7B7A-43D3-8B79-37D633B846F1}">
                    <asvg:svgBlip xmlns="" xmlns:asvg="http://schemas.microsoft.com/office/drawing/2016/SVG/main" r:embed="rId15"/>
                  </a:ext>
                </a:extLst>
              </a:blip>
              <a:stretch>
                <a:fillRect/>
              </a:stretch>
            </a:blipFill>
          </p:spPr>
        </p:sp>
        <p:sp>
          <p:nvSpPr>
            <p:cNvPr id="21" name="TextBox 21"/>
            <p:cNvSpPr txBox="1"/>
            <p:nvPr/>
          </p:nvSpPr>
          <p:spPr>
            <a:xfrm>
              <a:off x="1219618" y="-66675"/>
              <a:ext cx="8063644" cy="1807422"/>
            </a:xfrm>
            <a:prstGeom prst="rect">
              <a:avLst/>
            </a:prstGeom>
          </p:spPr>
          <p:txBody>
            <a:bodyPr lIns="0" tIns="0" rIns="0" bIns="0" rtlCol="0" anchor="t">
              <a:spAutoFit/>
            </a:bodyPr>
            <a:lstStyle/>
            <a:p>
              <a:pPr algn="just">
                <a:lnSpc>
                  <a:spcPts val="3640"/>
                </a:lnSpc>
                <a:spcBef>
                  <a:spcPct val="0"/>
                </a:spcBef>
              </a:pPr>
              <a:r>
                <a:rPr lang="en-US" sz="2600">
                  <a:solidFill>
                    <a:srgbClr val="2E353D"/>
                  </a:solidFill>
                  <a:latin typeface="Times New Roman" panose="02020603050405020304"/>
                  <a:ea typeface="Times New Roman" panose="02020603050405020304"/>
                  <a:cs typeface="Times New Roman" panose="02020603050405020304"/>
                  <a:sym typeface="Times New Roman" panose="02020603050405020304"/>
                </a:rPr>
                <a:t>Bắt đầu từ thời điểm t = 0, tiến trình P1 được đưa vào xử lý trước và chạy liên tục trong 24ms</a:t>
              </a:r>
            </a:p>
          </p:txBody>
        </p:sp>
      </p:grpSp>
      <p:grpSp>
        <p:nvGrpSpPr>
          <p:cNvPr id="22" name="Group 22"/>
          <p:cNvGrpSpPr/>
          <p:nvPr/>
        </p:nvGrpSpPr>
        <p:grpSpPr>
          <a:xfrm>
            <a:off x="11534375" y="2980535"/>
            <a:ext cx="6492478" cy="1305560"/>
            <a:chOff x="0" y="0"/>
            <a:chExt cx="8656637" cy="1740747"/>
          </a:xfrm>
        </p:grpSpPr>
        <p:sp>
          <p:nvSpPr>
            <p:cNvPr id="23" name="Freeform 23"/>
            <p:cNvSpPr/>
            <p:nvPr/>
          </p:nvSpPr>
          <p:spPr>
            <a:xfrm>
              <a:off x="0" y="0"/>
              <a:ext cx="1076813" cy="1076813"/>
            </a:xfrm>
            <a:custGeom>
              <a:avLst/>
              <a:gdLst/>
              <a:ahLst/>
              <a:cxnLst/>
              <a:rect l="l" t="t" r="r" b="b"/>
              <a:pathLst>
                <a:path w="1076813" h="1076813">
                  <a:moveTo>
                    <a:pt x="0" y="0"/>
                  </a:moveTo>
                  <a:lnTo>
                    <a:pt x="1076813" y="0"/>
                  </a:lnTo>
                  <a:lnTo>
                    <a:pt x="1076813" y="1076813"/>
                  </a:lnTo>
                  <a:lnTo>
                    <a:pt x="0" y="1076813"/>
                  </a:lnTo>
                  <a:lnTo>
                    <a:pt x="0" y="0"/>
                  </a:lnTo>
                  <a:close/>
                </a:path>
              </a:pathLst>
            </a:custGeom>
            <a:blipFill>
              <a:blip r:embed="rId14">
                <a:extLst>
                  <a:ext uri="{96DAC541-7B7A-43D3-8B79-37D633B846F1}">
                    <asvg:svgBlip xmlns="" xmlns:asvg="http://schemas.microsoft.com/office/drawing/2016/SVG/main" r:embed="rId15"/>
                  </a:ext>
                </a:extLst>
              </a:blip>
              <a:stretch>
                <a:fillRect/>
              </a:stretch>
            </a:blipFill>
          </p:spPr>
        </p:sp>
        <p:sp>
          <p:nvSpPr>
            <p:cNvPr id="24" name="TextBox 24"/>
            <p:cNvSpPr txBox="1"/>
            <p:nvPr/>
          </p:nvSpPr>
          <p:spPr>
            <a:xfrm>
              <a:off x="1219618" y="-66675"/>
              <a:ext cx="7437018" cy="1807422"/>
            </a:xfrm>
            <a:prstGeom prst="rect">
              <a:avLst/>
            </a:prstGeom>
          </p:spPr>
          <p:txBody>
            <a:bodyPr lIns="0" tIns="0" rIns="0" bIns="0" rtlCol="0" anchor="t">
              <a:spAutoFit/>
            </a:bodyPr>
            <a:lstStyle/>
            <a:p>
              <a:pPr algn="just">
                <a:lnSpc>
                  <a:spcPts val="3640"/>
                </a:lnSpc>
                <a:spcBef>
                  <a:spcPct val="0"/>
                </a:spcBef>
              </a:pPr>
              <a:r>
                <a:rPr lang="en-US" sz="2600">
                  <a:solidFill>
                    <a:srgbClr val="2E353D"/>
                  </a:solidFill>
                  <a:latin typeface="Times New Roman" panose="02020603050405020304"/>
                  <a:ea typeface="Times New Roman" panose="02020603050405020304"/>
                  <a:cs typeface="Times New Roman" panose="02020603050405020304"/>
                  <a:sym typeface="Times New Roman" panose="02020603050405020304"/>
                </a:rPr>
                <a:t>Tiến trình tiếp theo là P2 được thực hiện, chạy thêm 3ms, nên tổng thời gian lúc này là 24 + 3 = 27ms.</a:t>
              </a:r>
            </a:p>
          </p:txBody>
        </p:sp>
      </p:grpSp>
      <p:grpSp>
        <p:nvGrpSpPr>
          <p:cNvPr id="25" name="Group 25"/>
          <p:cNvGrpSpPr/>
          <p:nvPr/>
        </p:nvGrpSpPr>
        <p:grpSpPr>
          <a:xfrm>
            <a:off x="11534375" y="4457545"/>
            <a:ext cx="6527290" cy="1305560"/>
            <a:chOff x="0" y="0"/>
            <a:chExt cx="8703053" cy="1740747"/>
          </a:xfrm>
        </p:grpSpPr>
        <p:sp>
          <p:nvSpPr>
            <p:cNvPr id="26" name="Freeform 26"/>
            <p:cNvSpPr/>
            <p:nvPr/>
          </p:nvSpPr>
          <p:spPr>
            <a:xfrm>
              <a:off x="0" y="0"/>
              <a:ext cx="1076813" cy="1076813"/>
            </a:xfrm>
            <a:custGeom>
              <a:avLst/>
              <a:gdLst/>
              <a:ahLst/>
              <a:cxnLst/>
              <a:rect l="l" t="t" r="r" b="b"/>
              <a:pathLst>
                <a:path w="1076813" h="1076813">
                  <a:moveTo>
                    <a:pt x="0" y="0"/>
                  </a:moveTo>
                  <a:lnTo>
                    <a:pt x="1076813" y="0"/>
                  </a:lnTo>
                  <a:lnTo>
                    <a:pt x="1076813" y="1076813"/>
                  </a:lnTo>
                  <a:lnTo>
                    <a:pt x="0" y="1076813"/>
                  </a:lnTo>
                  <a:lnTo>
                    <a:pt x="0" y="0"/>
                  </a:lnTo>
                  <a:close/>
                </a:path>
              </a:pathLst>
            </a:custGeom>
            <a:blipFill>
              <a:blip r:embed="rId14">
                <a:extLst>
                  <a:ext uri="{96DAC541-7B7A-43D3-8B79-37D633B846F1}">
                    <asvg:svgBlip xmlns="" xmlns:asvg="http://schemas.microsoft.com/office/drawing/2016/SVG/main" r:embed="rId15"/>
                  </a:ext>
                </a:extLst>
              </a:blip>
              <a:stretch>
                <a:fillRect/>
              </a:stretch>
            </a:blipFill>
          </p:spPr>
        </p:sp>
        <p:sp>
          <p:nvSpPr>
            <p:cNvPr id="27" name="TextBox 27"/>
            <p:cNvSpPr txBox="1"/>
            <p:nvPr/>
          </p:nvSpPr>
          <p:spPr>
            <a:xfrm>
              <a:off x="1219618" y="-66675"/>
              <a:ext cx="7483435" cy="1807422"/>
            </a:xfrm>
            <a:prstGeom prst="rect">
              <a:avLst/>
            </a:prstGeom>
          </p:spPr>
          <p:txBody>
            <a:bodyPr lIns="0" tIns="0" rIns="0" bIns="0" rtlCol="0" anchor="t">
              <a:spAutoFit/>
            </a:bodyPr>
            <a:lstStyle/>
            <a:p>
              <a:pPr algn="just">
                <a:lnSpc>
                  <a:spcPts val="3640"/>
                </a:lnSpc>
                <a:spcBef>
                  <a:spcPct val="0"/>
                </a:spcBef>
              </a:pPr>
              <a:r>
                <a:rPr lang="en-US" sz="2600">
                  <a:solidFill>
                    <a:srgbClr val="2E353D"/>
                  </a:solidFill>
                  <a:latin typeface="Times New Roman" panose="02020603050405020304"/>
                  <a:ea typeface="Times New Roman" panose="02020603050405020304"/>
                  <a:cs typeface="Times New Roman" panose="02020603050405020304"/>
                  <a:sym typeface="Times New Roman" panose="02020603050405020304"/>
                </a:rPr>
                <a:t>Tiếp theo, P3 được đưa vào chạy trong 3ms, nâng tổng thời gian lên 27 + 3 = 30ms.</a:t>
              </a:r>
            </a:p>
          </p:txBody>
        </p:sp>
      </p:grpSp>
      <p:sp>
        <p:nvSpPr>
          <p:cNvPr id="28" name="TextBox 28"/>
          <p:cNvSpPr txBox="1"/>
          <p:nvPr/>
        </p:nvSpPr>
        <p:spPr>
          <a:xfrm>
            <a:off x="3970123" y="914400"/>
            <a:ext cx="11045475" cy="962660"/>
          </a:xfrm>
          <a:prstGeom prst="rect">
            <a:avLst/>
          </a:prstGeom>
        </p:spPr>
        <p:txBody>
          <a:bodyPr lIns="0" tIns="0" rIns="0" bIns="0" rtlCol="0" anchor="t">
            <a:spAutoFit/>
          </a:bodyPr>
          <a:lstStyle/>
          <a:p>
            <a:pPr algn="l">
              <a:lnSpc>
                <a:spcPts val="7840"/>
              </a:lnSpc>
              <a:spcBef>
                <a:spcPct val="0"/>
              </a:spcBef>
            </a:pPr>
            <a:r>
              <a:rPr lang="en-US" sz="5600" dirty="0" smtClean="0">
                <a:solidFill>
                  <a:srgbClr val="175CA2"/>
                </a:solidFill>
                <a:latin typeface="Calistoga" panose="00000500000000000000"/>
                <a:ea typeface="Calistoga" panose="00000500000000000000"/>
                <a:cs typeface="Calistoga" panose="00000500000000000000"/>
                <a:sym typeface="Calistoga" panose="00000500000000000000"/>
              </a:rPr>
              <a:t>CHƯƠNG 2 : </a:t>
            </a:r>
            <a:r>
              <a:rPr lang="en-US" sz="5600" dirty="0">
                <a:solidFill>
                  <a:srgbClr val="175CA2"/>
                </a:solidFill>
                <a:latin typeface="Calistoga" panose="00000500000000000000"/>
                <a:ea typeface="Calistoga" panose="00000500000000000000"/>
                <a:cs typeface="Calistoga" panose="00000500000000000000"/>
                <a:sym typeface="Calistoga" panose="00000500000000000000"/>
              </a:rPr>
              <a:t>CƠ SỞ LÝ THUYẾT </a:t>
            </a:r>
          </a:p>
        </p:txBody>
      </p:sp>
      <p:grpSp>
        <p:nvGrpSpPr>
          <p:cNvPr id="29" name="Group 29"/>
          <p:cNvGrpSpPr/>
          <p:nvPr/>
        </p:nvGrpSpPr>
        <p:grpSpPr>
          <a:xfrm>
            <a:off x="11444647" y="5654446"/>
            <a:ext cx="6582206" cy="2219960"/>
            <a:chOff x="0" y="0"/>
            <a:chExt cx="8776274" cy="2959947"/>
          </a:xfrm>
        </p:grpSpPr>
        <p:sp>
          <p:nvSpPr>
            <p:cNvPr id="30" name="Freeform 30"/>
            <p:cNvSpPr/>
            <p:nvPr/>
          </p:nvSpPr>
          <p:spPr>
            <a:xfrm>
              <a:off x="0" y="132179"/>
              <a:ext cx="1291307" cy="866790"/>
            </a:xfrm>
            <a:custGeom>
              <a:avLst/>
              <a:gdLst/>
              <a:ahLst/>
              <a:cxnLst/>
              <a:rect l="l" t="t" r="r" b="b"/>
              <a:pathLst>
                <a:path w="1291307" h="866790">
                  <a:moveTo>
                    <a:pt x="0" y="0"/>
                  </a:moveTo>
                  <a:lnTo>
                    <a:pt x="1291307" y="0"/>
                  </a:lnTo>
                  <a:lnTo>
                    <a:pt x="1291307" y="866789"/>
                  </a:lnTo>
                  <a:lnTo>
                    <a:pt x="0" y="866789"/>
                  </a:lnTo>
                  <a:lnTo>
                    <a:pt x="0" y="0"/>
                  </a:lnTo>
                  <a:close/>
                </a:path>
              </a:pathLst>
            </a:custGeom>
            <a:blipFill>
              <a:blip r:embed="rId16"/>
              <a:stretch>
                <a:fillRect/>
              </a:stretch>
            </a:blipFill>
          </p:spPr>
        </p:sp>
        <p:sp>
          <p:nvSpPr>
            <p:cNvPr id="31" name="TextBox 31"/>
            <p:cNvSpPr txBox="1"/>
            <p:nvPr/>
          </p:nvSpPr>
          <p:spPr>
            <a:xfrm>
              <a:off x="1291307" y="-66675"/>
              <a:ext cx="7484967" cy="3026622"/>
            </a:xfrm>
            <a:prstGeom prst="rect">
              <a:avLst/>
            </a:prstGeom>
          </p:spPr>
          <p:txBody>
            <a:bodyPr lIns="0" tIns="0" rIns="0" bIns="0" rtlCol="0" anchor="t">
              <a:spAutoFit/>
            </a:bodyPr>
            <a:lstStyle/>
            <a:p>
              <a:pPr algn="just">
                <a:lnSpc>
                  <a:spcPts val="3640"/>
                </a:lnSpc>
                <a:spcBef>
                  <a:spcPct val="0"/>
                </a:spcBef>
              </a:pPr>
              <a:r>
                <a:rPr lang="en-US" sz="2600">
                  <a:solidFill>
                    <a:srgbClr val="2E353D"/>
                  </a:solidFill>
                  <a:latin typeface="Times New Roman" panose="02020603050405020304"/>
                  <a:ea typeface="Times New Roman" panose="02020603050405020304"/>
                  <a:cs typeface="Times New Roman" panose="02020603050405020304"/>
                  <a:sym typeface="Times New Roman" panose="02020603050405020304"/>
                </a:rPr>
                <a:t>Như vậy, biểu đồ Gantt thể hiện rõ thứ tự thực hiện của các tiến trình P1 → P2 → P3, cùng với khoảng thời gian xử lý tương ứng của từng tiến trình một cách trực quan.</a:t>
              </a:r>
            </a:p>
          </p:txBody>
        </p:sp>
      </p:grpSp>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ppt_x</p:attrName>
                                        </p:attrNameLst>
                                      </p:cBhvr>
                                      <p:tavLst>
                                        <p:tav tm="0">
                                          <p:val>
                                            <p:strVal val="#ppt_x-#ppt_w*1.125000"/>
                                          </p:val>
                                        </p:tav>
                                        <p:tav tm="100000">
                                          <p:val>
                                            <p:strVal val="#ppt_x"/>
                                          </p:val>
                                        </p:tav>
                                      </p:tavLst>
                                    </p:anim>
                                    <p:animEffect transition="in" filter="wipe(right)">
                                      <p:cBhvr>
                                        <p:cTn id="8" dur="500"/>
                                        <p:tgtEl>
                                          <p:spTgt spid="13"/>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p:tgtEl>
                                          <p:spTgt spid="16"/>
                                        </p:tgtEl>
                                        <p:attrNameLst>
                                          <p:attrName>ppt_x</p:attrName>
                                        </p:attrNameLst>
                                      </p:cBhvr>
                                      <p:tavLst>
                                        <p:tav tm="0">
                                          <p:val>
                                            <p:strVal val="#ppt_x-#ppt_w*1.125000"/>
                                          </p:val>
                                        </p:tav>
                                        <p:tav tm="100000">
                                          <p:val>
                                            <p:strVal val="#ppt_x"/>
                                          </p:val>
                                        </p:tav>
                                      </p:tavLst>
                                    </p:anim>
                                    <p:animEffect transition="in" filter="wipe(right)">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p:tgtEl>
                                          <p:spTgt spid="19"/>
                                        </p:tgtEl>
                                        <p:attrNameLst>
                                          <p:attrName>ppt_x</p:attrName>
                                        </p:attrNameLst>
                                      </p:cBhvr>
                                      <p:tavLst>
                                        <p:tav tm="0">
                                          <p:val>
                                            <p:strVal val="#ppt_x-#ppt_w*1.125000"/>
                                          </p:val>
                                        </p:tav>
                                        <p:tav tm="100000">
                                          <p:val>
                                            <p:strVal val="#ppt_x"/>
                                          </p:val>
                                        </p:tav>
                                      </p:tavLst>
                                    </p:anim>
                                    <p:animEffect transition="in" filter="wipe(right)">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2"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p:tgtEl>
                                          <p:spTgt spid="22"/>
                                        </p:tgtEl>
                                        <p:attrNameLst>
                                          <p:attrName>ppt_x</p:attrName>
                                        </p:attrNameLst>
                                      </p:cBhvr>
                                      <p:tavLst>
                                        <p:tav tm="0">
                                          <p:val>
                                            <p:strVal val="#ppt_x+#ppt_w*1.125000"/>
                                          </p:val>
                                        </p:tav>
                                        <p:tav tm="100000">
                                          <p:val>
                                            <p:strVal val="#ppt_x"/>
                                          </p:val>
                                        </p:tav>
                                      </p:tavLst>
                                    </p:anim>
                                    <p:animEffect transition="in" filter="wipe(left)">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2"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p:tgtEl>
                                          <p:spTgt spid="25"/>
                                        </p:tgtEl>
                                        <p:attrNameLst>
                                          <p:attrName>ppt_x</p:attrName>
                                        </p:attrNameLst>
                                      </p:cBhvr>
                                      <p:tavLst>
                                        <p:tav tm="0">
                                          <p:val>
                                            <p:strVal val="#ppt_x+#ppt_w*1.125000"/>
                                          </p:val>
                                        </p:tav>
                                        <p:tav tm="100000">
                                          <p:val>
                                            <p:strVal val="#ppt_x"/>
                                          </p:val>
                                        </p:tav>
                                      </p:tavLst>
                                    </p:anim>
                                    <p:animEffect transition="in" filter="wipe(left)">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2"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p:tgtEl>
                                          <p:spTgt spid="29"/>
                                        </p:tgtEl>
                                        <p:attrNameLst>
                                          <p:attrName>ppt_x</p:attrName>
                                        </p:attrNameLst>
                                      </p:cBhvr>
                                      <p:tavLst>
                                        <p:tav tm="0">
                                          <p:val>
                                            <p:strVal val="#ppt_x+#ppt_w*1.125000"/>
                                          </p:val>
                                        </p:tav>
                                        <p:tav tm="100000">
                                          <p:val>
                                            <p:strVal val="#ppt_x"/>
                                          </p:val>
                                        </p:tav>
                                      </p:tavLst>
                                    </p:anim>
                                    <p:animEffect transition="in" filter="wipe(left)">
                                      <p:cBhvr>
                                        <p:cTn id="3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0" y="7370876"/>
            <a:ext cx="18288000" cy="4559808"/>
          </a:xfrm>
          <a:custGeom>
            <a:avLst/>
            <a:gdLst/>
            <a:ahLst/>
            <a:cxnLst/>
            <a:rect l="l" t="t" r="r" b="b"/>
            <a:pathLst>
              <a:path w="18288000" h="4559808">
                <a:moveTo>
                  <a:pt x="0" y="0"/>
                </a:moveTo>
                <a:lnTo>
                  <a:pt x="18288000" y="0"/>
                </a:lnTo>
                <a:lnTo>
                  <a:pt x="18288000" y="4559808"/>
                </a:lnTo>
                <a:lnTo>
                  <a:pt x="0" y="4559808"/>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4" name="Group 4"/>
          <p:cNvGrpSpPr/>
          <p:nvPr/>
        </p:nvGrpSpPr>
        <p:grpSpPr>
          <a:xfrm>
            <a:off x="5897081" y="284412"/>
            <a:ext cx="7159329" cy="1044509"/>
            <a:chOff x="0" y="0"/>
            <a:chExt cx="9545772" cy="1392679"/>
          </a:xfrm>
        </p:grpSpPr>
        <p:sp>
          <p:nvSpPr>
            <p:cNvPr id="5" name="Freeform 5"/>
            <p:cNvSpPr/>
            <p:nvPr/>
          </p:nvSpPr>
          <p:spPr>
            <a:xfrm>
              <a:off x="63400" y="0"/>
              <a:ext cx="9418972" cy="1392679"/>
            </a:xfrm>
            <a:custGeom>
              <a:avLst/>
              <a:gdLst/>
              <a:ahLst/>
              <a:cxnLst/>
              <a:rect l="l" t="t" r="r" b="b"/>
              <a:pathLst>
                <a:path w="9418972" h="1392679">
                  <a:moveTo>
                    <a:pt x="0" y="0"/>
                  </a:moveTo>
                  <a:lnTo>
                    <a:pt x="9418972" y="0"/>
                  </a:lnTo>
                  <a:lnTo>
                    <a:pt x="9418972" y="1392679"/>
                  </a:lnTo>
                  <a:lnTo>
                    <a:pt x="0" y="1392679"/>
                  </a:lnTo>
                  <a:lnTo>
                    <a:pt x="0" y="0"/>
                  </a:lnTo>
                  <a:close/>
                </a:path>
              </a:pathLst>
            </a:custGeom>
            <a:blipFill>
              <a:blip r:embed="rId5"/>
              <a:stretch>
                <a:fillRect t="-636" b="-636"/>
              </a:stretch>
            </a:blipFill>
          </p:spPr>
        </p:sp>
        <p:sp>
          <p:nvSpPr>
            <p:cNvPr id="6" name="TextBox 6"/>
            <p:cNvSpPr txBox="1"/>
            <p:nvPr/>
          </p:nvSpPr>
          <p:spPr>
            <a:xfrm>
              <a:off x="0" y="301157"/>
              <a:ext cx="9545772" cy="704639"/>
            </a:xfrm>
            <a:prstGeom prst="rect">
              <a:avLst/>
            </a:prstGeom>
          </p:spPr>
          <p:txBody>
            <a:bodyPr lIns="0" tIns="0" rIns="0" bIns="0" rtlCol="0" anchor="t">
              <a:spAutoFit/>
            </a:bodyPr>
            <a:lstStyle/>
            <a:p>
              <a:pPr algn="ctr">
                <a:lnSpc>
                  <a:spcPts val="4340"/>
                </a:lnSpc>
                <a:spcBef>
                  <a:spcPct val="0"/>
                </a:spcBef>
              </a:pPr>
              <a:r>
                <a:rPr lang="en-US" sz="3100" b="1">
                  <a:solidFill>
                    <a:srgbClr val="FFFFFF"/>
                  </a:solidFill>
                  <a:latin typeface="Times New Roman Bold" panose="02020803070505020304"/>
                  <a:ea typeface="Times New Roman Bold" panose="02020803070505020304"/>
                  <a:cs typeface="Times New Roman Bold" panose="02020803070505020304"/>
                  <a:sym typeface="Times New Roman Bold" panose="02020803070505020304"/>
                </a:rPr>
                <a:t>2.2  Priority (Non – preemtive)</a:t>
              </a:r>
            </a:p>
          </p:txBody>
        </p:sp>
      </p:grpSp>
      <p:grpSp>
        <p:nvGrpSpPr>
          <p:cNvPr id="7" name="Group 7"/>
          <p:cNvGrpSpPr/>
          <p:nvPr/>
        </p:nvGrpSpPr>
        <p:grpSpPr>
          <a:xfrm>
            <a:off x="1028700" y="1825011"/>
            <a:ext cx="16230600" cy="2059130"/>
            <a:chOff x="0" y="0"/>
            <a:chExt cx="21640800" cy="2745507"/>
          </a:xfrm>
        </p:grpSpPr>
        <p:grpSp>
          <p:nvGrpSpPr>
            <p:cNvPr id="8" name="Group 8"/>
            <p:cNvGrpSpPr/>
            <p:nvPr/>
          </p:nvGrpSpPr>
          <p:grpSpPr>
            <a:xfrm>
              <a:off x="0" y="0"/>
              <a:ext cx="21640800" cy="2745507"/>
              <a:chOff x="0" y="0"/>
              <a:chExt cx="4274726" cy="542322"/>
            </a:xfrm>
          </p:grpSpPr>
          <p:sp>
            <p:nvSpPr>
              <p:cNvPr id="9" name="Freeform 9"/>
              <p:cNvSpPr/>
              <p:nvPr/>
            </p:nvSpPr>
            <p:spPr>
              <a:xfrm>
                <a:off x="0" y="0"/>
                <a:ext cx="4274726" cy="542322"/>
              </a:xfrm>
              <a:custGeom>
                <a:avLst/>
                <a:gdLst/>
                <a:ahLst/>
                <a:cxnLst/>
                <a:rect l="l" t="t" r="r" b="b"/>
                <a:pathLst>
                  <a:path w="4274726" h="542322">
                    <a:moveTo>
                      <a:pt x="8109" y="0"/>
                    </a:moveTo>
                    <a:lnTo>
                      <a:pt x="4266617" y="0"/>
                    </a:lnTo>
                    <a:cubicBezTo>
                      <a:pt x="4268768" y="0"/>
                      <a:pt x="4270830" y="854"/>
                      <a:pt x="4272351" y="2375"/>
                    </a:cubicBezTo>
                    <a:cubicBezTo>
                      <a:pt x="4273872" y="3896"/>
                      <a:pt x="4274726" y="5958"/>
                      <a:pt x="4274726" y="8109"/>
                    </a:cubicBezTo>
                    <a:lnTo>
                      <a:pt x="4274726" y="534214"/>
                    </a:lnTo>
                    <a:cubicBezTo>
                      <a:pt x="4274726" y="536364"/>
                      <a:pt x="4273872" y="538427"/>
                      <a:pt x="4272351" y="539947"/>
                    </a:cubicBezTo>
                    <a:cubicBezTo>
                      <a:pt x="4270830" y="541468"/>
                      <a:pt x="4268768" y="542322"/>
                      <a:pt x="4266617" y="542322"/>
                    </a:cubicBezTo>
                    <a:lnTo>
                      <a:pt x="8109" y="542322"/>
                    </a:lnTo>
                    <a:cubicBezTo>
                      <a:pt x="5958" y="542322"/>
                      <a:pt x="3896" y="541468"/>
                      <a:pt x="2375" y="539947"/>
                    </a:cubicBezTo>
                    <a:cubicBezTo>
                      <a:pt x="854" y="538427"/>
                      <a:pt x="0" y="536364"/>
                      <a:pt x="0" y="534214"/>
                    </a:cubicBezTo>
                    <a:lnTo>
                      <a:pt x="0" y="8109"/>
                    </a:lnTo>
                    <a:cubicBezTo>
                      <a:pt x="0" y="5958"/>
                      <a:pt x="854" y="3896"/>
                      <a:pt x="2375" y="2375"/>
                    </a:cubicBezTo>
                    <a:cubicBezTo>
                      <a:pt x="3896" y="854"/>
                      <a:pt x="5958" y="0"/>
                      <a:pt x="8109" y="0"/>
                    </a:cubicBezTo>
                    <a:close/>
                  </a:path>
                </a:pathLst>
              </a:custGeom>
              <a:solidFill>
                <a:srgbClr val="004996"/>
              </a:solidFill>
            </p:spPr>
          </p:sp>
          <p:sp>
            <p:nvSpPr>
              <p:cNvPr id="10" name="TextBox 10"/>
              <p:cNvSpPr txBox="1"/>
              <p:nvPr/>
            </p:nvSpPr>
            <p:spPr>
              <a:xfrm>
                <a:off x="0" y="-47625"/>
                <a:ext cx="4274726" cy="589947"/>
              </a:xfrm>
              <a:prstGeom prst="rect">
                <a:avLst/>
              </a:prstGeom>
            </p:spPr>
            <p:txBody>
              <a:bodyPr lIns="50800" tIns="50800" rIns="50800" bIns="50800" rtlCol="0" anchor="ctr"/>
              <a:lstStyle/>
              <a:p>
                <a:pPr algn="ctr">
                  <a:lnSpc>
                    <a:spcPts val="3500"/>
                  </a:lnSpc>
                </a:pPr>
                <a:endParaRPr/>
              </a:p>
            </p:txBody>
          </p:sp>
        </p:grpSp>
        <p:sp>
          <p:nvSpPr>
            <p:cNvPr id="11" name="TextBox 11"/>
            <p:cNvSpPr txBox="1"/>
            <p:nvPr/>
          </p:nvSpPr>
          <p:spPr>
            <a:xfrm>
              <a:off x="348396" y="353367"/>
              <a:ext cx="21037113" cy="1962574"/>
            </a:xfrm>
            <a:prstGeom prst="rect">
              <a:avLst/>
            </a:prstGeom>
          </p:spPr>
          <p:txBody>
            <a:bodyPr lIns="0" tIns="0" rIns="0" bIns="0" rtlCol="0" anchor="t">
              <a:spAutoFit/>
            </a:bodyPr>
            <a:lstStyle/>
            <a:p>
              <a:pPr algn="just">
                <a:lnSpc>
                  <a:spcPts val="3920"/>
                </a:lnSpc>
                <a:spcBef>
                  <a:spcPct val="0"/>
                </a:spcBef>
              </a:pPr>
              <a:r>
                <a:rPr lang="en-US" sz="2800">
                  <a:solidFill>
                    <a:srgbClr val="FFFFFF"/>
                  </a:solidFill>
                  <a:latin typeface="Times New Roman" panose="02020603050405020304"/>
                  <a:ea typeface="Times New Roman" panose="02020603050405020304"/>
                  <a:cs typeface="Times New Roman" panose="02020603050405020304"/>
                  <a:sym typeface="Times New Roman" panose="02020603050405020304"/>
                </a:rPr>
                <a:t>Thuật toán Priority là phương pháp lập lịch CPU dựa trên độ ưu tiên của tiến trình. Tiến trình nào có mức ưu tiên cao hơn sẽ được chọn để thực hiện trước. Trong đó, phiên bản non-preemptive có nghĩa là khi một tiến trình đã bắt đầu chạy thì sẽ không bị gián đoạn cho đến khi hoàn thành.</a:t>
              </a:r>
            </a:p>
          </p:txBody>
        </p:sp>
      </p:grpSp>
      <p:grpSp>
        <p:nvGrpSpPr>
          <p:cNvPr id="12" name="Group 12"/>
          <p:cNvGrpSpPr/>
          <p:nvPr/>
        </p:nvGrpSpPr>
        <p:grpSpPr>
          <a:xfrm>
            <a:off x="276615" y="5143500"/>
            <a:ext cx="7159329" cy="939761"/>
            <a:chOff x="0" y="0"/>
            <a:chExt cx="9545772" cy="1253015"/>
          </a:xfrm>
        </p:grpSpPr>
        <p:sp>
          <p:nvSpPr>
            <p:cNvPr id="13" name="Freeform 13"/>
            <p:cNvSpPr/>
            <p:nvPr/>
          </p:nvSpPr>
          <p:spPr>
            <a:xfrm>
              <a:off x="593048" y="0"/>
              <a:ext cx="7370675" cy="1253015"/>
            </a:xfrm>
            <a:custGeom>
              <a:avLst/>
              <a:gdLst/>
              <a:ahLst/>
              <a:cxnLst/>
              <a:rect l="l" t="t" r="r" b="b"/>
              <a:pathLst>
                <a:path w="7370675" h="1253015">
                  <a:moveTo>
                    <a:pt x="0" y="0"/>
                  </a:moveTo>
                  <a:lnTo>
                    <a:pt x="7370675" y="0"/>
                  </a:lnTo>
                  <a:lnTo>
                    <a:pt x="7370675" y="1253015"/>
                  </a:lnTo>
                  <a:lnTo>
                    <a:pt x="0" y="1253015"/>
                  </a:lnTo>
                  <a:lnTo>
                    <a:pt x="0" y="0"/>
                  </a:lnTo>
                  <a:close/>
                </a:path>
              </a:pathLst>
            </a:custGeom>
            <a:blipFill>
              <a:blip r:embed="rId6"/>
              <a:stretch>
                <a:fillRect/>
              </a:stretch>
            </a:blipFill>
          </p:spPr>
        </p:sp>
        <p:sp>
          <p:nvSpPr>
            <p:cNvPr id="14" name="TextBox 14"/>
            <p:cNvSpPr txBox="1"/>
            <p:nvPr/>
          </p:nvSpPr>
          <p:spPr>
            <a:xfrm>
              <a:off x="0" y="231326"/>
              <a:ext cx="9545772" cy="704639"/>
            </a:xfrm>
            <a:prstGeom prst="rect">
              <a:avLst/>
            </a:prstGeom>
          </p:spPr>
          <p:txBody>
            <a:bodyPr lIns="0" tIns="0" rIns="0" bIns="0" rtlCol="0" anchor="t">
              <a:spAutoFit/>
            </a:bodyPr>
            <a:lstStyle/>
            <a:p>
              <a:pPr algn="ctr">
                <a:lnSpc>
                  <a:spcPts val="4340"/>
                </a:lnSpc>
                <a:spcBef>
                  <a:spcPct val="0"/>
                </a:spcBef>
              </a:pPr>
              <a:r>
                <a:rPr lang="en-US" sz="3100" b="1">
                  <a:solidFill>
                    <a:srgbClr val="FFFFFF"/>
                  </a:solidFill>
                  <a:latin typeface="Times New Roman Bold" panose="02020803070505020304"/>
                  <a:ea typeface="Times New Roman Bold" panose="02020803070505020304"/>
                  <a:cs typeface="Times New Roman Bold" panose="02020803070505020304"/>
                  <a:sym typeface="Times New Roman Bold" panose="02020803070505020304"/>
                </a:rPr>
                <a:t>Nguyên tắc hoạt động:</a:t>
              </a:r>
            </a:p>
          </p:txBody>
        </p:sp>
      </p:grpSp>
      <p:grpSp>
        <p:nvGrpSpPr>
          <p:cNvPr id="15" name="Group 15"/>
          <p:cNvGrpSpPr/>
          <p:nvPr/>
        </p:nvGrpSpPr>
        <p:grpSpPr>
          <a:xfrm>
            <a:off x="825839" y="6426588"/>
            <a:ext cx="4252320" cy="2459474"/>
            <a:chOff x="0" y="0"/>
            <a:chExt cx="5669760" cy="3279299"/>
          </a:xfrm>
        </p:grpSpPr>
        <p:grpSp>
          <p:nvGrpSpPr>
            <p:cNvPr id="16" name="Group 16"/>
            <p:cNvGrpSpPr/>
            <p:nvPr/>
          </p:nvGrpSpPr>
          <p:grpSpPr>
            <a:xfrm>
              <a:off x="0" y="0"/>
              <a:ext cx="5669760" cy="3279299"/>
              <a:chOff x="0" y="0"/>
              <a:chExt cx="1119953" cy="647763"/>
            </a:xfrm>
          </p:grpSpPr>
          <p:sp>
            <p:nvSpPr>
              <p:cNvPr id="17" name="Freeform 17"/>
              <p:cNvSpPr/>
              <p:nvPr/>
            </p:nvSpPr>
            <p:spPr>
              <a:xfrm>
                <a:off x="0" y="0"/>
                <a:ext cx="1119952" cy="647763"/>
              </a:xfrm>
              <a:custGeom>
                <a:avLst/>
                <a:gdLst/>
                <a:ahLst/>
                <a:cxnLst/>
                <a:rect l="l" t="t" r="r" b="b"/>
                <a:pathLst>
                  <a:path w="1119952" h="647763">
                    <a:moveTo>
                      <a:pt x="0" y="0"/>
                    </a:moveTo>
                    <a:lnTo>
                      <a:pt x="1119952" y="0"/>
                    </a:lnTo>
                    <a:lnTo>
                      <a:pt x="1119952" y="647763"/>
                    </a:lnTo>
                    <a:lnTo>
                      <a:pt x="0" y="647763"/>
                    </a:lnTo>
                    <a:close/>
                  </a:path>
                </a:pathLst>
              </a:custGeom>
              <a:gradFill rotWithShape="1">
                <a:gsLst>
                  <a:gs pos="0">
                    <a:srgbClr val="5DE0E6">
                      <a:alpha val="100000"/>
                    </a:srgbClr>
                  </a:gs>
                  <a:gs pos="100000">
                    <a:srgbClr val="004AAD">
                      <a:alpha val="100000"/>
                    </a:srgbClr>
                  </a:gs>
                </a:gsLst>
                <a:lin ang="5400000"/>
              </a:gradFill>
            </p:spPr>
          </p:sp>
          <p:sp>
            <p:nvSpPr>
              <p:cNvPr id="18" name="TextBox 18"/>
              <p:cNvSpPr txBox="1"/>
              <p:nvPr/>
            </p:nvSpPr>
            <p:spPr>
              <a:xfrm>
                <a:off x="0" y="-47625"/>
                <a:ext cx="1119953" cy="695388"/>
              </a:xfrm>
              <a:prstGeom prst="rect">
                <a:avLst/>
              </a:prstGeom>
            </p:spPr>
            <p:txBody>
              <a:bodyPr lIns="50800" tIns="50800" rIns="50800" bIns="50800" rtlCol="0" anchor="ctr"/>
              <a:lstStyle/>
              <a:p>
                <a:pPr algn="ctr">
                  <a:lnSpc>
                    <a:spcPts val="3500"/>
                  </a:lnSpc>
                </a:pPr>
                <a:endParaRPr/>
              </a:p>
            </p:txBody>
          </p:sp>
        </p:grpSp>
        <p:sp>
          <p:nvSpPr>
            <p:cNvPr id="19" name="TextBox 19"/>
            <p:cNvSpPr txBox="1"/>
            <p:nvPr/>
          </p:nvSpPr>
          <p:spPr>
            <a:xfrm>
              <a:off x="180262" y="94826"/>
              <a:ext cx="5092975" cy="2622974"/>
            </a:xfrm>
            <a:prstGeom prst="rect">
              <a:avLst/>
            </a:prstGeom>
          </p:spPr>
          <p:txBody>
            <a:bodyPr lIns="0" tIns="0" rIns="0" bIns="0" rtlCol="0" anchor="t">
              <a:spAutoFit/>
            </a:bodyPr>
            <a:lstStyle/>
            <a:p>
              <a:pPr algn="just">
                <a:lnSpc>
                  <a:spcPts val="3920"/>
                </a:lnSpc>
                <a:spcBef>
                  <a:spcPct val="0"/>
                </a:spcBef>
              </a:pPr>
              <a:r>
                <a:rPr lang="en-US" sz="2800">
                  <a:solidFill>
                    <a:srgbClr val="FFFFFF"/>
                  </a:solidFill>
                  <a:latin typeface="Times New Roman" panose="02020603050405020304"/>
                  <a:ea typeface="Times New Roman" panose="02020603050405020304"/>
                  <a:cs typeface="Times New Roman" panose="02020603050405020304"/>
                  <a:sym typeface="Times New Roman" panose="02020603050405020304"/>
                </a:rPr>
                <a:t>Khi CPU rảnh, hệ thống sẽ chọn tiến trình có độ ưu tiên cao nhất trong hàng đợi</a:t>
              </a:r>
            </a:p>
          </p:txBody>
        </p:sp>
      </p:grpSp>
      <p:grpSp>
        <p:nvGrpSpPr>
          <p:cNvPr id="20" name="Group 20"/>
          <p:cNvGrpSpPr/>
          <p:nvPr/>
        </p:nvGrpSpPr>
        <p:grpSpPr>
          <a:xfrm>
            <a:off x="5309784" y="6426588"/>
            <a:ext cx="4252320" cy="2459474"/>
            <a:chOff x="0" y="0"/>
            <a:chExt cx="5669760" cy="3279299"/>
          </a:xfrm>
        </p:grpSpPr>
        <p:grpSp>
          <p:nvGrpSpPr>
            <p:cNvPr id="21" name="Group 21"/>
            <p:cNvGrpSpPr/>
            <p:nvPr/>
          </p:nvGrpSpPr>
          <p:grpSpPr>
            <a:xfrm>
              <a:off x="0" y="0"/>
              <a:ext cx="5669760" cy="3279299"/>
              <a:chOff x="0" y="0"/>
              <a:chExt cx="1119953" cy="647763"/>
            </a:xfrm>
          </p:grpSpPr>
          <p:sp>
            <p:nvSpPr>
              <p:cNvPr id="22" name="Freeform 22"/>
              <p:cNvSpPr/>
              <p:nvPr/>
            </p:nvSpPr>
            <p:spPr>
              <a:xfrm>
                <a:off x="0" y="0"/>
                <a:ext cx="1119952" cy="647763"/>
              </a:xfrm>
              <a:custGeom>
                <a:avLst/>
                <a:gdLst/>
                <a:ahLst/>
                <a:cxnLst/>
                <a:rect l="l" t="t" r="r" b="b"/>
                <a:pathLst>
                  <a:path w="1119952" h="647763">
                    <a:moveTo>
                      <a:pt x="0" y="0"/>
                    </a:moveTo>
                    <a:lnTo>
                      <a:pt x="1119952" y="0"/>
                    </a:lnTo>
                    <a:lnTo>
                      <a:pt x="1119952" y="647763"/>
                    </a:lnTo>
                    <a:lnTo>
                      <a:pt x="0" y="647763"/>
                    </a:lnTo>
                    <a:close/>
                  </a:path>
                </a:pathLst>
              </a:custGeom>
              <a:gradFill rotWithShape="1">
                <a:gsLst>
                  <a:gs pos="0">
                    <a:srgbClr val="5DE0E6">
                      <a:alpha val="100000"/>
                    </a:srgbClr>
                  </a:gs>
                  <a:gs pos="100000">
                    <a:srgbClr val="004AAD">
                      <a:alpha val="100000"/>
                    </a:srgbClr>
                  </a:gs>
                </a:gsLst>
                <a:lin ang="5400000"/>
              </a:gradFill>
            </p:spPr>
          </p:sp>
          <p:sp>
            <p:nvSpPr>
              <p:cNvPr id="23" name="TextBox 23"/>
              <p:cNvSpPr txBox="1"/>
              <p:nvPr/>
            </p:nvSpPr>
            <p:spPr>
              <a:xfrm>
                <a:off x="0" y="-47625"/>
                <a:ext cx="1119953" cy="695388"/>
              </a:xfrm>
              <a:prstGeom prst="rect">
                <a:avLst/>
              </a:prstGeom>
            </p:spPr>
            <p:txBody>
              <a:bodyPr lIns="50800" tIns="50800" rIns="50800" bIns="50800" rtlCol="0" anchor="ctr"/>
              <a:lstStyle/>
              <a:p>
                <a:pPr algn="ctr">
                  <a:lnSpc>
                    <a:spcPts val="3500"/>
                  </a:lnSpc>
                </a:pPr>
                <a:endParaRPr/>
              </a:p>
            </p:txBody>
          </p:sp>
        </p:grpSp>
        <p:sp>
          <p:nvSpPr>
            <p:cNvPr id="24" name="TextBox 24"/>
            <p:cNvSpPr txBox="1"/>
            <p:nvPr/>
          </p:nvSpPr>
          <p:spPr>
            <a:xfrm>
              <a:off x="180262" y="94826"/>
              <a:ext cx="5092975" cy="2622974"/>
            </a:xfrm>
            <a:prstGeom prst="rect">
              <a:avLst/>
            </a:prstGeom>
          </p:spPr>
          <p:txBody>
            <a:bodyPr lIns="0" tIns="0" rIns="0" bIns="0" rtlCol="0" anchor="t">
              <a:spAutoFit/>
            </a:bodyPr>
            <a:lstStyle/>
            <a:p>
              <a:pPr algn="just">
                <a:lnSpc>
                  <a:spcPts val="3920"/>
                </a:lnSpc>
                <a:spcBef>
                  <a:spcPct val="0"/>
                </a:spcBef>
              </a:pPr>
              <a:r>
                <a:rPr lang="en-US" sz="2800">
                  <a:solidFill>
                    <a:srgbClr val="FFFFFF"/>
                  </a:solidFill>
                  <a:latin typeface="Times New Roman" panose="02020603050405020304"/>
                  <a:ea typeface="Times New Roman" panose="02020603050405020304"/>
                  <a:cs typeface="Times New Roman" panose="02020603050405020304"/>
                  <a:sym typeface="Times New Roman" panose="02020603050405020304"/>
                </a:rPr>
                <a:t>Nếu một tiến trình đang chạy, các tiến trình khác (kể cả có ưu tiên cao hơn) cũng phải chờ</a:t>
              </a:r>
            </a:p>
          </p:txBody>
        </p:sp>
      </p:grpSp>
      <p:grpSp>
        <p:nvGrpSpPr>
          <p:cNvPr id="25" name="Group 25"/>
          <p:cNvGrpSpPr/>
          <p:nvPr/>
        </p:nvGrpSpPr>
        <p:grpSpPr>
          <a:xfrm>
            <a:off x="9790704" y="6426588"/>
            <a:ext cx="3277569" cy="2443625"/>
            <a:chOff x="0" y="0"/>
            <a:chExt cx="4370092" cy="3258167"/>
          </a:xfrm>
        </p:grpSpPr>
        <p:grpSp>
          <p:nvGrpSpPr>
            <p:cNvPr id="26" name="Group 26"/>
            <p:cNvGrpSpPr/>
            <p:nvPr/>
          </p:nvGrpSpPr>
          <p:grpSpPr>
            <a:xfrm>
              <a:off x="0" y="0"/>
              <a:ext cx="4370092" cy="3258167"/>
              <a:chOff x="0" y="0"/>
              <a:chExt cx="863228" cy="643589"/>
            </a:xfrm>
          </p:grpSpPr>
          <p:sp>
            <p:nvSpPr>
              <p:cNvPr id="27" name="Freeform 27"/>
              <p:cNvSpPr/>
              <p:nvPr/>
            </p:nvSpPr>
            <p:spPr>
              <a:xfrm>
                <a:off x="0" y="0"/>
                <a:ext cx="863228" cy="643589"/>
              </a:xfrm>
              <a:custGeom>
                <a:avLst/>
                <a:gdLst/>
                <a:ahLst/>
                <a:cxnLst/>
                <a:rect l="l" t="t" r="r" b="b"/>
                <a:pathLst>
                  <a:path w="863228" h="643589">
                    <a:moveTo>
                      <a:pt x="0" y="0"/>
                    </a:moveTo>
                    <a:lnTo>
                      <a:pt x="863228" y="0"/>
                    </a:lnTo>
                    <a:lnTo>
                      <a:pt x="863228" y="643589"/>
                    </a:lnTo>
                    <a:lnTo>
                      <a:pt x="0" y="643589"/>
                    </a:lnTo>
                    <a:close/>
                  </a:path>
                </a:pathLst>
              </a:custGeom>
              <a:gradFill rotWithShape="1">
                <a:gsLst>
                  <a:gs pos="0">
                    <a:srgbClr val="5DE0E6">
                      <a:alpha val="100000"/>
                    </a:srgbClr>
                  </a:gs>
                  <a:gs pos="100000">
                    <a:srgbClr val="004AAD">
                      <a:alpha val="100000"/>
                    </a:srgbClr>
                  </a:gs>
                </a:gsLst>
                <a:lin ang="5400000"/>
              </a:gradFill>
            </p:spPr>
          </p:sp>
          <p:sp>
            <p:nvSpPr>
              <p:cNvPr id="28" name="TextBox 28"/>
              <p:cNvSpPr txBox="1"/>
              <p:nvPr/>
            </p:nvSpPr>
            <p:spPr>
              <a:xfrm>
                <a:off x="0" y="-47625"/>
                <a:ext cx="863228" cy="691214"/>
              </a:xfrm>
              <a:prstGeom prst="rect">
                <a:avLst/>
              </a:prstGeom>
            </p:spPr>
            <p:txBody>
              <a:bodyPr lIns="50800" tIns="50800" rIns="50800" bIns="50800" rtlCol="0" anchor="ctr"/>
              <a:lstStyle/>
              <a:p>
                <a:pPr algn="ctr">
                  <a:lnSpc>
                    <a:spcPts val="3500"/>
                  </a:lnSpc>
                </a:pPr>
                <a:endParaRPr/>
              </a:p>
            </p:txBody>
          </p:sp>
        </p:grpSp>
        <p:sp>
          <p:nvSpPr>
            <p:cNvPr id="29" name="TextBox 29"/>
            <p:cNvSpPr txBox="1"/>
            <p:nvPr/>
          </p:nvSpPr>
          <p:spPr>
            <a:xfrm>
              <a:off x="169194" y="94826"/>
              <a:ext cx="3538613" cy="1962574"/>
            </a:xfrm>
            <a:prstGeom prst="rect">
              <a:avLst/>
            </a:prstGeom>
          </p:spPr>
          <p:txBody>
            <a:bodyPr lIns="0" tIns="0" rIns="0" bIns="0" rtlCol="0" anchor="t">
              <a:spAutoFit/>
            </a:bodyPr>
            <a:lstStyle/>
            <a:p>
              <a:pPr algn="just">
                <a:lnSpc>
                  <a:spcPts val="3920"/>
                </a:lnSpc>
                <a:spcBef>
                  <a:spcPct val="0"/>
                </a:spcBef>
              </a:pPr>
              <a:r>
                <a:rPr lang="en-US" sz="2800">
                  <a:solidFill>
                    <a:srgbClr val="FFFFFF"/>
                  </a:solidFill>
                  <a:latin typeface="Times New Roman" panose="02020603050405020304"/>
                  <a:ea typeface="Times New Roman" panose="02020603050405020304"/>
                  <a:cs typeface="Times New Roman" panose="02020603050405020304"/>
                  <a:sym typeface="Times New Roman" panose="02020603050405020304"/>
                </a:rPr>
                <a:t>Ví dụ về lập lịch ưu tiên không gián đoạn:</a:t>
              </a:r>
            </a:p>
          </p:txBody>
        </p:sp>
      </p:grpSp>
      <p:grpSp>
        <p:nvGrpSpPr>
          <p:cNvPr id="30" name="Group 30"/>
          <p:cNvGrpSpPr/>
          <p:nvPr/>
        </p:nvGrpSpPr>
        <p:grpSpPr>
          <a:xfrm>
            <a:off x="13296873" y="6442437"/>
            <a:ext cx="4165288" cy="2415180"/>
            <a:chOff x="0" y="0"/>
            <a:chExt cx="5553718" cy="3220240"/>
          </a:xfrm>
        </p:grpSpPr>
        <p:grpSp>
          <p:nvGrpSpPr>
            <p:cNvPr id="31" name="Group 31"/>
            <p:cNvGrpSpPr/>
            <p:nvPr/>
          </p:nvGrpSpPr>
          <p:grpSpPr>
            <a:xfrm>
              <a:off x="0" y="0"/>
              <a:ext cx="5553718" cy="3220240"/>
              <a:chOff x="0" y="0"/>
              <a:chExt cx="1097031" cy="636097"/>
            </a:xfrm>
          </p:grpSpPr>
          <p:sp>
            <p:nvSpPr>
              <p:cNvPr id="32" name="Freeform 32"/>
              <p:cNvSpPr/>
              <p:nvPr/>
            </p:nvSpPr>
            <p:spPr>
              <a:xfrm>
                <a:off x="0" y="0"/>
                <a:ext cx="1097031" cy="636097"/>
              </a:xfrm>
              <a:custGeom>
                <a:avLst/>
                <a:gdLst/>
                <a:ahLst/>
                <a:cxnLst/>
                <a:rect l="l" t="t" r="r" b="b"/>
                <a:pathLst>
                  <a:path w="1097031" h="636097">
                    <a:moveTo>
                      <a:pt x="0" y="0"/>
                    </a:moveTo>
                    <a:lnTo>
                      <a:pt x="1097031" y="0"/>
                    </a:lnTo>
                    <a:lnTo>
                      <a:pt x="1097031" y="636097"/>
                    </a:lnTo>
                    <a:lnTo>
                      <a:pt x="0" y="636097"/>
                    </a:lnTo>
                    <a:close/>
                  </a:path>
                </a:pathLst>
              </a:custGeom>
              <a:gradFill rotWithShape="1">
                <a:gsLst>
                  <a:gs pos="0">
                    <a:srgbClr val="5DE0E6">
                      <a:alpha val="100000"/>
                    </a:srgbClr>
                  </a:gs>
                  <a:gs pos="100000">
                    <a:srgbClr val="004AAD">
                      <a:alpha val="100000"/>
                    </a:srgbClr>
                  </a:gs>
                </a:gsLst>
                <a:lin ang="5400000"/>
              </a:gradFill>
            </p:spPr>
          </p:sp>
          <p:sp>
            <p:nvSpPr>
              <p:cNvPr id="33" name="TextBox 33"/>
              <p:cNvSpPr txBox="1"/>
              <p:nvPr/>
            </p:nvSpPr>
            <p:spPr>
              <a:xfrm>
                <a:off x="0" y="-47625"/>
                <a:ext cx="1097031" cy="683722"/>
              </a:xfrm>
              <a:prstGeom prst="rect">
                <a:avLst/>
              </a:prstGeom>
            </p:spPr>
            <p:txBody>
              <a:bodyPr lIns="50800" tIns="50800" rIns="50800" bIns="50800" rtlCol="0" anchor="ctr"/>
              <a:lstStyle/>
              <a:p>
                <a:pPr algn="ctr">
                  <a:lnSpc>
                    <a:spcPts val="3500"/>
                  </a:lnSpc>
                </a:pPr>
                <a:endParaRPr/>
              </a:p>
            </p:txBody>
          </p:sp>
        </p:grpSp>
        <p:sp>
          <p:nvSpPr>
            <p:cNvPr id="34" name="TextBox 34"/>
            <p:cNvSpPr txBox="1"/>
            <p:nvPr/>
          </p:nvSpPr>
          <p:spPr>
            <a:xfrm>
              <a:off x="169194" y="94826"/>
              <a:ext cx="5139990" cy="2622974"/>
            </a:xfrm>
            <a:prstGeom prst="rect">
              <a:avLst/>
            </a:prstGeom>
          </p:spPr>
          <p:txBody>
            <a:bodyPr lIns="0" tIns="0" rIns="0" bIns="0" rtlCol="0" anchor="t">
              <a:spAutoFit/>
            </a:bodyPr>
            <a:lstStyle/>
            <a:p>
              <a:pPr algn="just">
                <a:lnSpc>
                  <a:spcPts val="3920"/>
                </a:lnSpc>
                <a:spcBef>
                  <a:spcPct val="0"/>
                </a:spcBef>
              </a:pPr>
              <a:r>
                <a:rPr lang="en-US" sz="2800">
                  <a:solidFill>
                    <a:srgbClr val="FFFFFF"/>
                  </a:solidFill>
                  <a:latin typeface="Times New Roman" panose="02020603050405020304"/>
                  <a:ea typeface="Times New Roman" panose="02020603050405020304"/>
                  <a:cs typeface="Times New Roman" panose="02020603050405020304"/>
                  <a:sym typeface="Times New Roman" panose="02020603050405020304"/>
                </a:rPr>
                <a:t>Hãy xem xét bảng sau về thời gian đến và thời gian bùng nổ của ba tiến trình P1, P2 và P3:</a:t>
              </a:r>
            </a:p>
          </p:txBody>
        </p:sp>
      </p:grpSp>
      <p:grpSp>
        <p:nvGrpSpPr>
          <p:cNvPr id="35" name="Group 35"/>
          <p:cNvGrpSpPr/>
          <p:nvPr/>
        </p:nvGrpSpPr>
        <p:grpSpPr>
          <a:xfrm>
            <a:off x="1893801" y="9114390"/>
            <a:ext cx="9285233" cy="536390"/>
            <a:chOff x="0" y="0"/>
            <a:chExt cx="12380310" cy="715187"/>
          </a:xfrm>
        </p:grpSpPr>
        <p:sp>
          <p:nvSpPr>
            <p:cNvPr id="36" name="Freeform 36"/>
            <p:cNvSpPr/>
            <p:nvPr/>
          </p:nvSpPr>
          <p:spPr>
            <a:xfrm>
              <a:off x="0" y="0"/>
              <a:ext cx="1074509" cy="715187"/>
            </a:xfrm>
            <a:custGeom>
              <a:avLst/>
              <a:gdLst/>
              <a:ahLst/>
              <a:cxnLst/>
              <a:rect l="l" t="t" r="r" b="b"/>
              <a:pathLst>
                <a:path w="1074509" h="715187">
                  <a:moveTo>
                    <a:pt x="0" y="0"/>
                  </a:moveTo>
                  <a:lnTo>
                    <a:pt x="1074509" y="0"/>
                  </a:lnTo>
                  <a:lnTo>
                    <a:pt x="1074509" y="715187"/>
                  </a:lnTo>
                  <a:lnTo>
                    <a:pt x="0" y="715187"/>
                  </a:lnTo>
                  <a:lnTo>
                    <a:pt x="0" y="0"/>
                  </a:lnTo>
                  <a:close/>
                </a:path>
              </a:pathLst>
            </a:custGeom>
            <a:blipFill>
              <a:blip r:embed="rId7"/>
              <a:stretch>
                <a:fillRect t="-849"/>
              </a:stretch>
            </a:blipFill>
          </p:spPr>
        </p:sp>
        <p:sp>
          <p:nvSpPr>
            <p:cNvPr id="37" name="TextBox 37"/>
            <p:cNvSpPr txBox="1"/>
            <p:nvPr/>
          </p:nvSpPr>
          <p:spPr>
            <a:xfrm>
              <a:off x="1341304" y="-76200"/>
              <a:ext cx="11039006" cy="641774"/>
            </a:xfrm>
            <a:prstGeom prst="rect">
              <a:avLst/>
            </a:prstGeom>
          </p:spPr>
          <p:txBody>
            <a:bodyPr lIns="0" tIns="0" rIns="0" bIns="0" rtlCol="0" anchor="t">
              <a:spAutoFit/>
            </a:bodyPr>
            <a:lstStyle/>
            <a:p>
              <a:pPr algn="just">
                <a:lnSpc>
                  <a:spcPts val="3920"/>
                </a:lnSpc>
                <a:spcBef>
                  <a:spcPct val="0"/>
                </a:spcBef>
              </a:pPr>
              <a:r>
                <a:rPr lang="en-US" sz="2800">
                  <a:solidFill>
                    <a:srgbClr val="2E353D"/>
                  </a:solidFill>
                  <a:latin typeface="Times New Roman" panose="02020603050405020304"/>
                  <a:ea typeface="Times New Roman" panose="02020603050405020304"/>
                  <a:cs typeface="Times New Roman" panose="02020603050405020304"/>
                  <a:sym typeface="Times New Roman" panose="02020603050405020304"/>
                </a:rPr>
                <a:t>Lưu ý: Số càng nhỏ thể hiện mức độ ưu tiên càng cao.</a:t>
              </a:r>
            </a:p>
          </p:txBody>
        </p:sp>
      </p:grpSp>
      <p:sp>
        <p:nvSpPr>
          <p:cNvPr id="38" name="Freeform 38"/>
          <p:cNvSpPr/>
          <p:nvPr/>
        </p:nvSpPr>
        <p:spPr>
          <a:xfrm>
            <a:off x="8948186" y="3985091"/>
            <a:ext cx="8311114" cy="2340548"/>
          </a:xfrm>
          <a:custGeom>
            <a:avLst/>
            <a:gdLst/>
            <a:ahLst/>
            <a:cxnLst/>
            <a:rect l="l" t="t" r="r" b="b"/>
            <a:pathLst>
              <a:path w="8311114" h="2340548">
                <a:moveTo>
                  <a:pt x="0" y="0"/>
                </a:moveTo>
                <a:lnTo>
                  <a:pt x="8311114" y="0"/>
                </a:lnTo>
                <a:lnTo>
                  <a:pt x="8311114" y="2340548"/>
                </a:lnTo>
                <a:lnTo>
                  <a:pt x="0" y="2340548"/>
                </a:lnTo>
                <a:lnTo>
                  <a:pt x="0" y="0"/>
                </a:lnTo>
                <a:close/>
              </a:path>
            </a:pathLst>
          </a:custGeom>
          <a:blipFill>
            <a:blip r:embed="rId8"/>
            <a:stretch>
              <a:fillRect/>
            </a:stretch>
          </a:blipFill>
        </p:spPr>
      </p:sp>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 calcmode="lin" valueType="num">
                                      <p:cBhvr>
                                        <p:cTn id="12" dur="500" fill="hold"/>
                                        <p:tgtEl>
                                          <p:spTgt spid="38"/>
                                        </p:tgtEl>
                                        <p:attrNameLst>
                                          <p:attrName>ppt_w</p:attrName>
                                        </p:attrNameLst>
                                      </p:cBhvr>
                                      <p:tavLst>
                                        <p:tav tm="0">
                                          <p:val>
                                            <p:fltVal val="0"/>
                                          </p:val>
                                        </p:tav>
                                        <p:tav tm="100000">
                                          <p:val>
                                            <p:strVal val="#ppt_w"/>
                                          </p:val>
                                        </p:tav>
                                      </p:tavLst>
                                    </p:anim>
                                    <p:anim calcmode="lin" valueType="num">
                                      <p:cBhvr>
                                        <p:cTn id="13" dur="500" fill="hold"/>
                                        <p:tgtEl>
                                          <p:spTgt spid="38"/>
                                        </p:tgtEl>
                                        <p:attrNameLst>
                                          <p:attrName>ppt_h</p:attrName>
                                        </p:attrNameLst>
                                      </p:cBhvr>
                                      <p:tavLst>
                                        <p:tav tm="0">
                                          <p:val>
                                            <p:fltVal val="0"/>
                                          </p:val>
                                        </p:tav>
                                        <p:tav tm="100000">
                                          <p:val>
                                            <p:strVal val="#ppt_h"/>
                                          </p:val>
                                        </p:tav>
                                      </p:tavLst>
                                    </p:anim>
                                    <p:animEffect transition="in" filter="fade">
                                      <p:cBhvr>
                                        <p:cTn id="14" dur="500"/>
                                        <p:tgtEl>
                                          <p:spTgt spid="38"/>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p:tgtEl>
                                          <p:spTgt spid="15"/>
                                        </p:tgtEl>
                                        <p:attrNameLst>
                                          <p:attrName>ppt_y</p:attrName>
                                        </p:attrNameLst>
                                      </p:cBhvr>
                                      <p:tavLst>
                                        <p:tav tm="0">
                                          <p:val>
                                            <p:strVal val="#ppt_y+#ppt_h*1.125000"/>
                                          </p:val>
                                        </p:tav>
                                        <p:tav tm="100000">
                                          <p:val>
                                            <p:strVal val="#ppt_y"/>
                                          </p:val>
                                        </p:tav>
                                      </p:tavLst>
                                    </p:anim>
                                    <p:animEffect transition="in" filter="wipe(up)">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additive="base">
                                        <p:cTn id="32" dur="500"/>
                                        <p:tgtEl>
                                          <p:spTgt spid="20"/>
                                        </p:tgtEl>
                                        <p:attrNameLst>
                                          <p:attrName>ppt_y</p:attrName>
                                        </p:attrNameLst>
                                      </p:cBhvr>
                                      <p:tavLst>
                                        <p:tav tm="0">
                                          <p:val>
                                            <p:strVal val="#ppt_y+#ppt_h*1.125000"/>
                                          </p:val>
                                        </p:tav>
                                        <p:tav tm="100000">
                                          <p:val>
                                            <p:strVal val="#ppt_y"/>
                                          </p:val>
                                        </p:tav>
                                      </p:tavLst>
                                    </p:anim>
                                    <p:animEffect transition="in" filter="wipe(up)">
                                      <p:cBhvr>
                                        <p:cTn id="33" dur="5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nodeType="clickEffect">
                                  <p:stCondLst>
                                    <p:cond delay="0"/>
                                  </p:stCondLst>
                                  <p:childTnLst>
                                    <p:set>
                                      <p:cBhvr>
                                        <p:cTn id="37" dur="1" fill="hold">
                                          <p:stCondLst>
                                            <p:cond delay="0"/>
                                          </p:stCondLst>
                                        </p:cTn>
                                        <p:tgtEl>
                                          <p:spTgt spid="25"/>
                                        </p:tgtEl>
                                        <p:attrNameLst>
                                          <p:attrName>style.visibility</p:attrName>
                                        </p:attrNameLst>
                                      </p:cBhvr>
                                      <p:to>
                                        <p:strVal val="visible"/>
                                      </p:to>
                                    </p:set>
                                    <p:anim calcmode="lin" valueType="num">
                                      <p:cBhvr additive="base">
                                        <p:cTn id="38" dur="500"/>
                                        <p:tgtEl>
                                          <p:spTgt spid="25"/>
                                        </p:tgtEl>
                                        <p:attrNameLst>
                                          <p:attrName>ppt_y</p:attrName>
                                        </p:attrNameLst>
                                      </p:cBhvr>
                                      <p:tavLst>
                                        <p:tav tm="0">
                                          <p:val>
                                            <p:strVal val="#ppt_y+#ppt_h*1.125000"/>
                                          </p:val>
                                        </p:tav>
                                        <p:tav tm="100000">
                                          <p:val>
                                            <p:strVal val="#ppt_y"/>
                                          </p:val>
                                        </p:tav>
                                      </p:tavLst>
                                    </p:anim>
                                    <p:animEffect transition="in" filter="wipe(up)">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nodeType="clickEffect">
                                  <p:stCondLst>
                                    <p:cond delay="0"/>
                                  </p:stCondLst>
                                  <p:childTnLst>
                                    <p:set>
                                      <p:cBhvr>
                                        <p:cTn id="43" dur="1" fill="hold">
                                          <p:stCondLst>
                                            <p:cond delay="0"/>
                                          </p:stCondLst>
                                        </p:cTn>
                                        <p:tgtEl>
                                          <p:spTgt spid="30"/>
                                        </p:tgtEl>
                                        <p:attrNameLst>
                                          <p:attrName>style.visibility</p:attrName>
                                        </p:attrNameLst>
                                      </p:cBhvr>
                                      <p:to>
                                        <p:strVal val="visible"/>
                                      </p:to>
                                    </p:set>
                                    <p:anim calcmode="lin" valueType="num">
                                      <p:cBhvr additive="base">
                                        <p:cTn id="44" dur="500"/>
                                        <p:tgtEl>
                                          <p:spTgt spid="30"/>
                                        </p:tgtEl>
                                        <p:attrNameLst>
                                          <p:attrName>ppt_y</p:attrName>
                                        </p:attrNameLst>
                                      </p:cBhvr>
                                      <p:tavLst>
                                        <p:tav tm="0">
                                          <p:val>
                                            <p:strVal val="#ppt_y+#ppt_h*1.125000"/>
                                          </p:val>
                                        </p:tav>
                                        <p:tav tm="100000">
                                          <p:val>
                                            <p:strVal val="#ppt_y"/>
                                          </p:val>
                                        </p:tav>
                                      </p:tavLst>
                                    </p:anim>
                                    <p:animEffect transition="in" filter="wipe(up)">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4" fill="hold" nodeType="clickEffect">
                                  <p:stCondLst>
                                    <p:cond delay="0"/>
                                  </p:stCondLst>
                                  <p:childTnLst>
                                    <p:set>
                                      <p:cBhvr>
                                        <p:cTn id="49" dur="1" fill="hold">
                                          <p:stCondLst>
                                            <p:cond delay="0"/>
                                          </p:stCondLst>
                                        </p:cTn>
                                        <p:tgtEl>
                                          <p:spTgt spid="35"/>
                                        </p:tgtEl>
                                        <p:attrNameLst>
                                          <p:attrName>style.visibility</p:attrName>
                                        </p:attrNameLst>
                                      </p:cBhvr>
                                      <p:to>
                                        <p:strVal val="visible"/>
                                      </p:to>
                                    </p:set>
                                    <p:anim calcmode="lin" valueType="num">
                                      <p:cBhvr additive="base">
                                        <p:cTn id="50" dur="500"/>
                                        <p:tgtEl>
                                          <p:spTgt spid="35"/>
                                        </p:tgtEl>
                                        <p:attrNameLst>
                                          <p:attrName>ppt_y</p:attrName>
                                        </p:attrNameLst>
                                      </p:cBhvr>
                                      <p:tavLst>
                                        <p:tav tm="0">
                                          <p:val>
                                            <p:strVal val="#ppt_y+#ppt_h*1.125000"/>
                                          </p:val>
                                        </p:tav>
                                        <p:tav tm="100000">
                                          <p:val>
                                            <p:strVal val="#ppt_y"/>
                                          </p:val>
                                        </p:tav>
                                      </p:tavLst>
                                    </p:anim>
                                    <p:animEffect transition="in" filter="wipe(up)">
                                      <p:cBhvr>
                                        <p:cTn id="51"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8887698" y="857250"/>
            <a:ext cx="3709219" cy="602748"/>
          </a:xfrm>
          <a:custGeom>
            <a:avLst/>
            <a:gdLst/>
            <a:ahLst/>
            <a:cxnLst/>
            <a:rect l="l" t="t" r="r" b="b"/>
            <a:pathLst>
              <a:path w="3709219" h="602748">
                <a:moveTo>
                  <a:pt x="0" y="0"/>
                </a:moveTo>
                <a:lnTo>
                  <a:pt x="3709220" y="0"/>
                </a:lnTo>
                <a:lnTo>
                  <a:pt x="3709220" y="602748"/>
                </a:lnTo>
                <a:lnTo>
                  <a:pt x="0" y="602748"/>
                </a:lnTo>
                <a:lnTo>
                  <a:pt x="0" y="0"/>
                </a:lnTo>
                <a:close/>
              </a:path>
            </a:pathLst>
          </a:custGeom>
          <a:blipFill>
            <a:blip r:embed="rId3">
              <a:alphaModFix amt="71000"/>
            </a:blip>
            <a:stretch>
              <a:fillRect/>
            </a:stretch>
          </a:blipFill>
        </p:spPr>
      </p:sp>
      <p:sp>
        <p:nvSpPr>
          <p:cNvPr id="4" name="Freeform 4"/>
          <p:cNvSpPr/>
          <p:nvPr/>
        </p:nvSpPr>
        <p:spPr>
          <a:xfrm flipH="1">
            <a:off x="-740476" y="-371437"/>
            <a:ext cx="14042134" cy="1228687"/>
          </a:xfrm>
          <a:custGeom>
            <a:avLst/>
            <a:gdLst/>
            <a:ahLst/>
            <a:cxnLst/>
            <a:rect l="l" t="t" r="r" b="b"/>
            <a:pathLst>
              <a:path w="14042134" h="1228687">
                <a:moveTo>
                  <a:pt x="14042134" y="0"/>
                </a:moveTo>
                <a:lnTo>
                  <a:pt x="0" y="0"/>
                </a:lnTo>
                <a:lnTo>
                  <a:pt x="0" y="1228687"/>
                </a:lnTo>
                <a:lnTo>
                  <a:pt x="14042134" y="1228687"/>
                </a:lnTo>
                <a:lnTo>
                  <a:pt x="14042134"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Freeform 5"/>
          <p:cNvSpPr/>
          <p:nvPr/>
        </p:nvSpPr>
        <p:spPr>
          <a:xfrm flipH="1">
            <a:off x="-768633" y="9725025"/>
            <a:ext cx="19825265" cy="1734711"/>
          </a:xfrm>
          <a:custGeom>
            <a:avLst/>
            <a:gdLst/>
            <a:ahLst/>
            <a:cxnLst/>
            <a:rect l="l" t="t" r="r" b="b"/>
            <a:pathLst>
              <a:path w="19825265" h="1734711">
                <a:moveTo>
                  <a:pt x="19825266" y="0"/>
                </a:moveTo>
                <a:lnTo>
                  <a:pt x="0" y="0"/>
                </a:lnTo>
                <a:lnTo>
                  <a:pt x="0" y="1734711"/>
                </a:lnTo>
                <a:lnTo>
                  <a:pt x="19825266" y="1734711"/>
                </a:lnTo>
                <a:lnTo>
                  <a:pt x="19825266"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6" name="Freeform 6"/>
          <p:cNvSpPr/>
          <p:nvPr/>
        </p:nvSpPr>
        <p:spPr>
          <a:xfrm flipH="1">
            <a:off x="12917431" y="570551"/>
            <a:ext cx="1139647" cy="343849"/>
          </a:xfrm>
          <a:custGeom>
            <a:avLst/>
            <a:gdLst/>
            <a:ahLst/>
            <a:cxnLst/>
            <a:rect l="l" t="t" r="r" b="b"/>
            <a:pathLst>
              <a:path w="1139647" h="343849">
                <a:moveTo>
                  <a:pt x="1139647" y="0"/>
                </a:moveTo>
                <a:lnTo>
                  <a:pt x="0" y="0"/>
                </a:lnTo>
                <a:lnTo>
                  <a:pt x="0" y="343849"/>
                </a:lnTo>
                <a:lnTo>
                  <a:pt x="1139647" y="343849"/>
                </a:lnTo>
                <a:lnTo>
                  <a:pt x="1139647" y="0"/>
                </a:lnTo>
                <a:close/>
              </a:path>
            </a:pathLst>
          </a:custGeom>
          <a:blipFill>
            <a:blip r:embed="rId8">
              <a:extLst>
                <a:ext uri="{96DAC541-7B7A-43D3-8B79-37D633B846F1}">
                  <asvg:svgBlip xmlns="" xmlns:asvg="http://schemas.microsoft.com/office/drawing/2016/SVG/main" r:embed="rId9"/>
                </a:ext>
              </a:extLst>
            </a:blip>
            <a:stretch>
              <a:fillRect r="-104552"/>
            </a:stretch>
          </a:blipFill>
        </p:spPr>
      </p:sp>
      <p:sp>
        <p:nvSpPr>
          <p:cNvPr id="7" name="Freeform 7"/>
          <p:cNvSpPr/>
          <p:nvPr/>
        </p:nvSpPr>
        <p:spPr>
          <a:xfrm flipH="1">
            <a:off x="1473624" y="9381176"/>
            <a:ext cx="1139647" cy="343849"/>
          </a:xfrm>
          <a:custGeom>
            <a:avLst/>
            <a:gdLst/>
            <a:ahLst/>
            <a:cxnLst/>
            <a:rect l="l" t="t" r="r" b="b"/>
            <a:pathLst>
              <a:path w="1139647" h="343849">
                <a:moveTo>
                  <a:pt x="1139646" y="0"/>
                </a:moveTo>
                <a:lnTo>
                  <a:pt x="0" y="0"/>
                </a:lnTo>
                <a:lnTo>
                  <a:pt x="0" y="343849"/>
                </a:lnTo>
                <a:lnTo>
                  <a:pt x="1139646" y="343849"/>
                </a:lnTo>
                <a:lnTo>
                  <a:pt x="1139646" y="0"/>
                </a:lnTo>
                <a:close/>
              </a:path>
            </a:pathLst>
          </a:custGeom>
          <a:blipFill>
            <a:blip r:embed="rId10">
              <a:extLst>
                <a:ext uri="{96DAC541-7B7A-43D3-8B79-37D633B846F1}">
                  <asvg:svgBlip xmlns="" xmlns:asvg="http://schemas.microsoft.com/office/drawing/2016/SVG/main" r:embed="rId11"/>
                </a:ext>
              </a:extLst>
            </a:blip>
            <a:stretch>
              <a:fillRect r="-104552"/>
            </a:stretch>
          </a:blipFill>
        </p:spPr>
      </p:sp>
      <p:sp>
        <p:nvSpPr>
          <p:cNvPr id="8" name="TextBox 8"/>
          <p:cNvSpPr txBox="1"/>
          <p:nvPr/>
        </p:nvSpPr>
        <p:spPr>
          <a:xfrm>
            <a:off x="3970123" y="942975"/>
            <a:ext cx="11045475" cy="811529"/>
          </a:xfrm>
          <a:prstGeom prst="rect">
            <a:avLst/>
          </a:prstGeom>
        </p:spPr>
        <p:txBody>
          <a:bodyPr lIns="0" tIns="0" rIns="0" bIns="0" rtlCol="0" anchor="t">
            <a:spAutoFit/>
          </a:bodyPr>
          <a:lstStyle/>
          <a:p>
            <a:pPr algn="l">
              <a:lnSpc>
                <a:spcPts val="6720"/>
              </a:lnSpc>
              <a:spcBef>
                <a:spcPct val="0"/>
              </a:spcBef>
            </a:pPr>
            <a:r>
              <a:rPr lang="en-US" sz="4800">
                <a:solidFill>
                  <a:srgbClr val="175CA2"/>
                </a:solidFill>
                <a:latin typeface="Calistoga" panose="00000500000000000000"/>
                <a:ea typeface="Calistoga" panose="00000500000000000000"/>
                <a:cs typeface="Calistoga" panose="00000500000000000000"/>
                <a:sym typeface="Calistoga" panose="00000500000000000000"/>
              </a:rPr>
              <a:t>HƯỚNG DẪN THỰC HIỆN TỪNG BƯỚC:</a:t>
            </a:r>
          </a:p>
        </p:txBody>
      </p:sp>
      <p:sp>
        <p:nvSpPr>
          <p:cNvPr id="9" name="Freeform 9"/>
          <p:cNvSpPr/>
          <p:nvPr/>
        </p:nvSpPr>
        <p:spPr>
          <a:xfrm>
            <a:off x="6090373" y="2815167"/>
            <a:ext cx="6107255" cy="6107255"/>
          </a:xfrm>
          <a:custGeom>
            <a:avLst/>
            <a:gdLst/>
            <a:ahLst/>
            <a:cxnLst/>
            <a:rect l="l" t="t" r="r" b="b"/>
            <a:pathLst>
              <a:path w="6107255" h="6107255">
                <a:moveTo>
                  <a:pt x="0" y="0"/>
                </a:moveTo>
                <a:lnTo>
                  <a:pt x="6107254" y="0"/>
                </a:lnTo>
                <a:lnTo>
                  <a:pt x="6107254" y="6107255"/>
                </a:lnTo>
                <a:lnTo>
                  <a:pt x="0" y="6107255"/>
                </a:lnTo>
                <a:lnTo>
                  <a:pt x="0" y="0"/>
                </a:lnTo>
                <a:close/>
              </a:path>
            </a:pathLst>
          </a:custGeom>
          <a:blipFill>
            <a:blip r:embed="rId12">
              <a:extLst>
                <a:ext uri="{96DAC541-7B7A-43D3-8B79-37D633B846F1}">
                  <asvg:svgBlip xmlns="" xmlns:asvg="http://schemas.microsoft.com/office/drawing/2016/SVG/main" r:embed="rId13"/>
                </a:ext>
              </a:extLst>
            </a:blip>
            <a:stretch>
              <a:fillRect/>
            </a:stretch>
          </a:blipFill>
        </p:spPr>
      </p:sp>
      <p:sp>
        <p:nvSpPr>
          <p:cNvPr id="10" name="TextBox 10"/>
          <p:cNvSpPr txBox="1"/>
          <p:nvPr/>
        </p:nvSpPr>
        <p:spPr>
          <a:xfrm>
            <a:off x="10345105" y="4543511"/>
            <a:ext cx="1501101" cy="895350"/>
          </a:xfrm>
          <a:prstGeom prst="rect">
            <a:avLst/>
          </a:prstGeom>
        </p:spPr>
        <p:txBody>
          <a:bodyPr lIns="0" tIns="0" rIns="0" bIns="0" rtlCol="0" anchor="t">
            <a:spAutoFit/>
          </a:bodyPr>
          <a:lstStyle/>
          <a:p>
            <a:pPr algn="ctr">
              <a:lnSpc>
                <a:spcPts val="6600"/>
              </a:lnSpc>
            </a:pPr>
            <a:r>
              <a:rPr lang="en-US" sz="5500" b="1">
                <a:solidFill>
                  <a:srgbClr val="FFFFFF"/>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03</a:t>
            </a:r>
          </a:p>
        </p:txBody>
      </p:sp>
      <p:sp>
        <p:nvSpPr>
          <p:cNvPr id="11" name="TextBox 11"/>
          <p:cNvSpPr txBox="1"/>
          <p:nvPr/>
        </p:nvSpPr>
        <p:spPr>
          <a:xfrm>
            <a:off x="9144000" y="7608854"/>
            <a:ext cx="1501101" cy="895350"/>
          </a:xfrm>
          <a:prstGeom prst="rect">
            <a:avLst/>
          </a:prstGeom>
        </p:spPr>
        <p:txBody>
          <a:bodyPr lIns="0" tIns="0" rIns="0" bIns="0" rtlCol="0" anchor="t">
            <a:spAutoFit/>
          </a:bodyPr>
          <a:lstStyle/>
          <a:p>
            <a:pPr algn="ctr">
              <a:lnSpc>
                <a:spcPts val="6600"/>
              </a:lnSpc>
            </a:pPr>
            <a:r>
              <a:rPr lang="en-US" sz="5500" b="1">
                <a:solidFill>
                  <a:srgbClr val="FFFFFF"/>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04</a:t>
            </a:r>
          </a:p>
        </p:txBody>
      </p:sp>
      <p:sp>
        <p:nvSpPr>
          <p:cNvPr id="12" name="TextBox 12"/>
          <p:cNvSpPr txBox="1"/>
          <p:nvPr/>
        </p:nvSpPr>
        <p:spPr>
          <a:xfrm>
            <a:off x="6414039" y="6251542"/>
            <a:ext cx="1501101" cy="895350"/>
          </a:xfrm>
          <a:prstGeom prst="rect">
            <a:avLst/>
          </a:prstGeom>
        </p:spPr>
        <p:txBody>
          <a:bodyPr lIns="0" tIns="0" rIns="0" bIns="0" rtlCol="0" anchor="t">
            <a:spAutoFit/>
          </a:bodyPr>
          <a:lstStyle/>
          <a:p>
            <a:pPr algn="ctr">
              <a:lnSpc>
                <a:spcPts val="6600"/>
              </a:lnSpc>
            </a:pPr>
            <a:r>
              <a:rPr lang="en-US" sz="5500" b="1">
                <a:solidFill>
                  <a:srgbClr val="FFFFFF"/>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02</a:t>
            </a:r>
          </a:p>
        </p:txBody>
      </p:sp>
      <p:sp>
        <p:nvSpPr>
          <p:cNvPr id="13" name="TextBox 13"/>
          <p:cNvSpPr txBox="1"/>
          <p:nvPr/>
        </p:nvSpPr>
        <p:spPr>
          <a:xfrm>
            <a:off x="7431445" y="3454107"/>
            <a:ext cx="1501101" cy="895350"/>
          </a:xfrm>
          <a:prstGeom prst="rect">
            <a:avLst/>
          </a:prstGeom>
        </p:spPr>
        <p:txBody>
          <a:bodyPr lIns="0" tIns="0" rIns="0" bIns="0" rtlCol="0" anchor="t">
            <a:spAutoFit/>
          </a:bodyPr>
          <a:lstStyle/>
          <a:p>
            <a:pPr algn="ctr">
              <a:lnSpc>
                <a:spcPts val="6600"/>
              </a:lnSpc>
            </a:pPr>
            <a:r>
              <a:rPr lang="en-US" sz="5500" b="1">
                <a:solidFill>
                  <a:srgbClr val="FFFFFF"/>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01</a:t>
            </a:r>
          </a:p>
        </p:txBody>
      </p:sp>
      <p:sp>
        <p:nvSpPr>
          <p:cNvPr id="14" name="TextBox 14"/>
          <p:cNvSpPr txBox="1"/>
          <p:nvPr/>
        </p:nvSpPr>
        <p:spPr>
          <a:xfrm>
            <a:off x="804996" y="2165692"/>
            <a:ext cx="5285377" cy="2481580"/>
          </a:xfrm>
          <a:prstGeom prst="rect">
            <a:avLst/>
          </a:prstGeom>
        </p:spPr>
        <p:txBody>
          <a:bodyPr lIns="0" tIns="0" rIns="0" bIns="0" rtlCol="0" anchor="t">
            <a:spAutoFit/>
          </a:bodyPr>
          <a:lstStyle/>
          <a:p>
            <a:pPr algn="just">
              <a:lnSpc>
                <a:spcPts val="3920"/>
              </a:lnSpc>
              <a:spcBef>
                <a:spcPct val="0"/>
              </a:spcBef>
            </a:pPr>
            <a:r>
              <a:rPr lang="en-US" sz="2800">
                <a:solidFill>
                  <a:srgbClr val="2E353D"/>
                </a:solidFill>
                <a:latin typeface="Times New Roman" panose="02020603050405020304"/>
                <a:ea typeface="Times New Roman" panose="02020603050405020304"/>
                <a:cs typeface="Times New Roman" panose="02020603050405020304"/>
                <a:sym typeface="Times New Roman" panose="02020603050405020304"/>
              </a:rPr>
              <a:t>Tại thời điểm 0: Chỉ có tiến trình P1 xuất hiện. P1 bắt đầu thực thi vì nó là tiến trình duy nhất khả dụng và nó sẽ tiếp tục thực thi cho đến t = 4 vì đây là phương pháp không ưu tiên.</a:t>
            </a:r>
          </a:p>
        </p:txBody>
      </p:sp>
      <p:sp>
        <p:nvSpPr>
          <p:cNvPr id="15" name="TextBox 15"/>
          <p:cNvSpPr txBox="1"/>
          <p:nvPr/>
        </p:nvSpPr>
        <p:spPr>
          <a:xfrm>
            <a:off x="804996" y="6320439"/>
            <a:ext cx="5285377" cy="2481580"/>
          </a:xfrm>
          <a:prstGeom prst="rect">
            <a:avLst/>
          </a:prstGeom>
        </p:spPr>
        <p:txBody>
          <a:bodyPr lIns="0" tIns="0" rIns="0" bIns="0" rtlCol="0" anchor="t">
            <a:spAutoFit/>
          </a:bodyPr>
          <a:lstStyle/>
          <a:p>
            <a:pPr algn="just">
              <a:lnSpc>
                <a:spcPts val="3920"/>
              </a:lnSpc>
              <a:spcBef>
                <a:spcPct val="0"/>
              </a:spcBef>
            </a:pPr>
            <a:r>
              <a:rPr lang="en-US" sz="2800">
                <a:solidFill>
                  <a:srgbClr val="2E353D"/>
                </a:solidFill>
                <a:latin typeface="Times New Roman" panose="02020603050405020304"/>
                <a:ea typeface="Times New Roman" panose="02020603050405020304"/>
                <a:cs typeface="Times New Roman" panose="02020603050405020304"/>
                <a:sym typeface="Times New Roman" panose="02020603050405020304"/>
              </a:rPr>
              <a:t>Tại Thời điểm 4: P1 hoàn thành quá trình thực thi. Cả P2 và P3 đều đã đến. Vì P2 có độ ưu tiên cao nhất (Ưu tiên 1), nên nó được chọn tiếp theo.</a:t>
            </a:r>
          </a:p>
        </p:txBody>
      </p:sp>
      <p:sp>
        <p:nvSpPr>
          <p:cNvPr id="16" name="TextBox 16"/>
          <p:cNvSpPr txBox="1"/>
          <p:nvPr/>
        </p:nvSpPr>
        <p:spPr>
          <a:xfrm>
            <a:off x="12480342" y="2165692"/>
            <a:ext cx="5285377" cy="1986280"/>
          </a:xfrm>
          <a:prstGeom prst="rect">
            <a:avLst/>
          </a:prstGeom>
        </p:spPr>
        <p:txBody>
          <a:bodyPr lIns="0" tIns="0" rIns="0" bIns="0" rtlCol="0" anchor="t">
            <a:spAutoFit/>
          </a:bodyPr>
          <a:lstStyle/>
          <a:p>
            <a:pPr algn="just">
              <a:lnSpc>
                <a:spcPts val="3920"/>
              </a:lnSpc>
              <a:spcBef>
                <a:spcPct val="0"/>
              </a:spcBef>
            </a:pPr>
            <a:r>
              <a:rPr lang="en-US" sz="2800">
                <a:solidFill>
                  <a:srgbClr val="2E353D"/>
                </a:solidFill>
                <a:latin typeface="Times New Roman" panose="02020603050405020304"/>
                <a:ea typeface="Times New Roman" panose="02020603050405020304"/>
                <a:cs typeface="Times New Roman" panose="02020603050405020304"/>
                <a:sym typeface="Times New Roman" panose="02020603050405020304"/>
              </a:rPr>
              <a:t>Tại thời điểm 6: Tiến trình P2 kết thúc quá trình thực thi. Chỉ còn lại tiến trình P3, vì vậy nó bắt đầu thực thi.</a:t>
            </a:r>
          </a:p>
        </p:txBody>
      </p:sp>
      <p:sp>
        <p:nvSpPr>
          <p:cNvPr id="17" name="TextBox 17"/>
          <p:cNvSpPr txBox="1"/>
          <p:nvPr/>
        </p:nvSpPr>
        <p:spPr>
          <a:xfrm>
            <a:off x="12632742" y="6320439"/>
            <a:ext cx="5285377" cy="995680"/>
          </a:xfrm>
          <a:prstGeom prst="rect">
            <a:avLst/>
          </a:prstGeom>
        </p:spPr>
        <p:txBody>
          <a:bodyPr lIns="0" tIns="0" rIns="0" bIns="0" rtlCol="0" anchor="t">
            <a:spAutoFit/>
          </a:bodyPr>
          <a:lstStyle/>
          <a:p>
            <a:pPr algn="just">
              <a:lnSpc>
                <a:spcPts val="3920"/>
              </a:lnSpc>
              <a:spcBef>
                <a:spcPct val="0"/>
              </a:spcBef>
            </a:pPr>
            <a:r>
              <a:rPr lang="en-US" sz="2800">
                <a:solidFill>
                  <a:srgbClr val="2E353D"/>
                </a:solidFill>
                <a:latin typeface="Times New Roman" panose="02020603050405020304"/>
                <a:ea typeface="Times New Roman" panose="02020603050405020304"/>
                <a:cs typeface="Times New Roman" panose="02020603050405020304"/>
                <a:sym typeface="Times New Roman" panose="02020603050405020304"/>
              </a:rPr>
              <a:t>Tại thời điểm 12: P3 hoàn thành quá trình thực thi.</a:t>
            </a:r>
          </a:p>
        </p:txBody>
      </p:sp>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ppt_x</p:attrName>
                                        </p:attrNameLst>
                                      </p:cBhvr>
                                      <p:tavLst>
                                        <p:tav tm="0">
                                          <p:val>
                                            <p:strVal val="#ppt_x-#ppt_w*1.125000"/>
                                          </p:val>
                                        </p:tav>
                                        <p:tav tm="100000">
                                          <p:val>
                                            <p:strVal val="#ppt_x"/>
                                          </p:val>
                                        </p:tav>
                                      </p:tavLst>
                                    </p:anim>
                                    <p:animEffect transition="in" filter="wipe(right)">
                                      <p:cBhvr>
                                        <p:cTn id="8" dur="500"/>
                                        <p:tgtEl>
                                          <p:spTgt spid="14"/>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p:tgtEl>
                                          <p:spTgt spid="15"/>
                                        </p:tgtEl>
                                        <p:attrNameLst>
                                          <p:attrName>ppt_x</p:attrName>
                                        </p:attrNameLst>
                                      </p:cBhvr>
                                      <p:tavLst>
                                        <p:tav tm="0">
                                          <p:val>
                                            <p:strVal val="#ppt_x-#ppt_w*1.125000"/>
                                          </p:val>
                                        </p:tav>
                                        <p:tav tm="100000">
                                          <p:val>
                                            <p:strVal val="#ppt_x"/>
                                          </p:val>
                                        </p:tav>
                                      </p:tavLst>
                                    </p:anim>
                                    <p:animEffect transition="in" filter="wipe(right)">
                                      <p:cBhvr>
                                        <p:cTn id="14" dur="500"/>
                                        <p:tgtEl>
                                          <p:spTgt spid="15"/>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2"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p:tgtEl>
                                          <p:spTgt spid="16"/>
                                        </p:tgtEl>
                                        <p:attrNameLst>
                                          <p:attrName>ppt_x</p:attrName>
                                        </p:attrNameLst>
                                      </p:cBhvr>
                                      <p:tavLst>
                                        <p:tav tm="0">
                                          <p:val>
                                            <p:strVal val="#ppt_x+#ppt_w*1.125000"/>
                                          </p:val>
                                        </p:tav>
                                        <p:tav tm="100000">
                                          <p:val>
                                            <p:strVal val="#ppt_x"/>
                                          </p:val>
                                        </p:tav>
                                      </p:tavLst>
                                    </p:anim>
                                    <p:animEffect transition="in" filter="wipe(left)">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2"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p:tgtEl>
                                          <p:spTgt spid="17"/>
                                        </p:tgtEl>
                                        <p:attrNameLst>
                                          <p:attrName>ppt_x</p:attrName>
                                        </p:attrNameLst>
                                      </p:cBhvr>
                                      <p:tavLst>
                                        <p:tav tm="0">
                                          <p:val>
                                            <p:strVal val="#ppt_x+#ppt_w*1.125000"/>
                                          </p:val>
                                        </p:tav>
                                        <p:tav tm="100000">
                                          <p:val>
                                            <p:strVal val="#ppt_x"/>
                                          </p:val>
                                        </p:tav>
                                      </p:tavLst>
                                    </p:anim>
                                    <p:animEffect transition="in" filter="wipe(left)">
                                      <p:cBhvr>
                                        <p:cTn id="2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p:bldP spid="15" grpId="1"/>
      <p:bldP spid="16" grpId="0"/>
      <p:bldP spid="16" grpId="1"/>
      <p:bldP spid="17" grpId="0"/>
      <p:bldP spid="17"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274908" y="6720497"/>
            <a:ext cx="3566503" cy="3566503"/>
          </a:xfrm>
          <a:custGeom>
            <a:avLst/>
            <a:gdLst/>
            <a:ahLst/>
            <a:cxnLst/>
            <a:rect l="l" t="t" r="r" b="b"/>
            <a:pathLst>
              <a:path w="3566503" h="3566503">
                <a:moveTo>
                  <a:pt x="0" y="0"/>
                </a:moveTo>
                <a:lnTo>
                  <a:pt x="3566503" y="0"/>
                </a:lnTo>
                <a:lnTo>
                  <a:pt x="3566503" y="3566503"/>
                </a:lnTo>
                <a:lnTo>
                  <a:pt x="0" y="3566503"/>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Freeform 4"/>
          <p:cNvSpPr/>
          <p:nvPr/>
        </p:nvSpPr>
        <p:spPr>
          <a:xfrm flipH="1" flipV="1">
            <a:off x="14521325" y="0"/>
            <a:ext cx="3766675" cy="3766675"/>
          </a:xfrm>
          <a:custGeom>
            <a:avLst/>
            <a:gdLst/>
            <a:ahLst/>
            <a:cxnLst/>
            <a:rect l="l" t="t" r="r" b="b"/>
            <a:pathLst>
              <a:path w="3766675" h="3766675">
                <a:moveTo>
                  <a:pt x="3766675" y="3766675"/>
                </a:moveTo>
                <a:lnTo>
                  <a:pt x="0" y="3766675"/>
                </a:lnTo>
                <a:lnTo>
                  <a:pt x="0" y="0"/>
                </a:lnTo>
                <a:lnTo>
                  <a:pt x="3766675" y="0"/>
                </a:lnTo>
                <a:lnTo>
                  <a:pt x="3766675" y="3766675"/>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5" name="Group 5"/>
          <p:cNvGrpSpPr/>
          <p:nvPr/>
        </p:nvGrpSpPr>
        <p:grpSpPr>
          <a:xfrm>
            <a:off x="1429827" y="2280384"/>
            <a:ext cx="7064229" cy="1044509"/>
            <a:chOff x="0" y="0"/>
            <a:chExt cx="9418972" cy="1392679"/>
          </a:xfrm>
        </p:grpSpPr>
        <p:sp>
          <p:nvSpPr>
            <p:cNvPr id="6" name="Freeform 6"/>
            <p:cNvSpPr/>
            <p:nvPr/>
          </p:nvSpPr>
          <p:spPr>
            <a:xfrm>
              <a:off x="0" y="0"/>
              <a:ext cx="9418972" cy="1392679"/>
            </a:xfrm>
            <a:custGeom>
              <a:avLst/>
              <a:gdLst/>
              <a:ahLst/>
              <a:cxnLst/>
              <a:rect l="l" t="t" r="r" b="b"/>
              <a:pathLst>
                <a:path w="9418972" h="1392679">
                  <a:moveTo>
                    <a:pt x="0" y="0"/>
                  </a:moveTo>
                  <a:lnTo>
                    <a:pt x="9418972" y="0"/>
                  </a:lnTo>
                  <a:lnTo>
                    <a:pt x="9418972" y="1392679"/>
                  </a:lnTo>
                  <a:lnTo>
                    <a:pt x="0" y="1392679"/>
                  </a:lnTo>
                  <a:lnTo>
                    <a:pt x="0" y="0"/>
                  </a:lnTo>
                  <a:close/>
                </a:path>
              </a:pathLst>
            </a:custGeom>
            <a:blipFill>
              <a:blip r:embed="rId5"/>
              <a:stretch>
                <a:fillRect t="-636" b="-636"/>
              </a:stretch>
            </a:blipFill>
          </p:spPr>
        </p:sp>
        <p:sp>
          <p:nvSpPr>
            <p:cNvPr id="7" name="TextBox 7"/>
            <p:cNvSpPr txBox="1"/>
            <p:nvPr/>
          </p:nvSpPr>
          <p:spPr>
            <a:xfrm>
              <a:off x="342746" y="87798"/>
              <a:ext cx="8733480" cy="1150408"/>
            </a:xfrm>
            <a:prstGeom prst="rect">
              <a:avLst/>
            </a:prstGeom>
          </p:spPr>
          <p:txBody>
            <a:bodyPr lIns="0" tIns="0" rIns="0" bIns="0" rtlCol="0" anchor="t">
              <a:spAutoFit/>
            </a:bodyPr>
            <a:lstStyle/>
            <a:p>
              <a:pPr algn="ctr">
                <a:lnSpc>
                  <a:spcPts val="3500"/>
                </a:lnSpc>
                <a:spcBef>
                  <a:spcPct val="0"/>
                </a:spcBef>
              </a:pPr>
              <a:r>
                <a:rPr lang="en-US" sz="2500" b="1">
                  <a:solidFill>
                    <a:srgbClr val="FFFFFF"/>
                  </a:solidFill>
                  <a:latin typeface="Times New Roman Bold" panose="02020803070505020304"/>
                  <a:ea typeface="Times New Roman Bold" panose="02020803070505020304"/>
                  <a:cs typeface="Times New Roman Bold" panose="02020803070505020304"/>
                  <a:sym typeface="Times New Roman Bold" panose="02020803070505020304"/>
                </a:rPr>
                <a:t>Đầu tiên chạy chương trình xuất hiện bảng và chọn dữ liệu cần chạy</a:t>
              </a:r>
            </a:p>
          </p:txBody>
        </p:sp>
      </p:grpSp>
      <p:grpSp>
        <p:nvGrpSpPr>
          <p:cNvPr id="8" name="Group 8"/>
          <p:cNvGrpSpPr>
            <a:grpSpLocks noChangeAspect="1"/>
          </p:cNvGrpSpPr>
          <p:nvPr/>
        </p:nvGrpSpPr>
        <p:grpSpPr>
          <a:xfrm>
            <a:off x="388649" y="3434225"/>
            <a:ext cx="9146584" cy="5246370"/>
            <a:chOff x="0" y="0"/>
            <a:chExt cx="7981950" cy="4578350"/>
          </a:xfrm>
        </p:grpSpPr>
        <p:sp>
          <p:nvSpPr>
            <p:cNvPr id="9" name="Freeform 9"/>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10" name="Freeform 10"/>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11" name="Freeform 11"/>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12" name="Freeform 12"/>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13" name="Freeform 13"/>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6"/>
              <a:stretch>
                <a:fillRect t="-6255" b="-6255"/>
              </a:stretch>
            </a:blipFill>
          </p:spPr>
        </p:sp>
      </p:grpSp>
      <p:grpSp>
        <p:nvGrpSpPr>
          <p:cNvPr id="14" name="Group 14"/>
          <p:cNvGrpSpPr>
            <a:grpSpLocks noChangeAspect="1"/>
          </p:cNvGrpSpPr>
          <p:nvPr/>
        </p:nvGrpSpPr>
        <p:grpSpPr>
          <a:xfrm>
            <a:off x="9035306" y="3434225"/>
            <a:ext cx="9146584" cy="5246370"/>
            <a:chOff x="0" y="0"/>
            <a:chExt cx="7981950" cy="4578350"/>
          </a:xfrm>
        </p:grpSpPr>
        <p:sp>
          <p:nvSpPr>
            <p:cNvPr id="15" name="Freeform 15"/>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16" name="Freeform 16"/>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17" name="Freeform 17"/>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18" name="Freeform 18"/>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19" name="Freeform 19"/>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7"/>
              <a:stretch>
                <a:fillRect l="-307" r="-307"/>
              </a:stretch>
            </a:blipFill>
          </p:spPr>
        </p:sp>
      </p:grpSp>
      <p:sp>
        <p:nvSpPr>
          <p:cNvPr id="20" name="TextBox 20"/>
          <p:cNvSpPr txBox="1"/>
          <p:nvPr/>
        </p:nvSpPr>
        <p:spPr>
          <a:xfrm>
            <a:off x="645527" y="474650"/>
            <a:ext cx="14474509" cy="1923604"/>
          </a:xfrm>
          <a:prstGeom prst="rect">
            <a:avLst/>
          </a:prstGeom>
        </p:spPr>
        <p:txBody>
          <a:bodyPr lIns="0" tIns="0" rIns="0" bIns="0" rtlCol="0" anchor="t">
            <a:spAutoFit/>
          </a:bodyPr>
          <a:lstStyle/>
          <a:p>
            <a:pPr algn="l">
              <a:lnSpc>
                <a:spcPts val="5040"/>
              </a:lnSpc>
              <a:spcBef>
                <a:spcPct val="0"/>
              </a:spcBef>
            </a:pPr>
            <a:r>
              <a:rPr lang="en-US" sz="3600" dirty="0">
                <a:solidFill>
                  <a:srgbClr val="175CA2"/>
                </a:solidFill>
                <a:latin typeface="Calistoga" panose="00000500000000000000"/>
                <a:ea typeface="Calistoga" panose="00000500000000000000"/>
                <a:cs typeface="Calistoga" panose="00000500000000000000"/>
                <a:sym typeface="Calistoga" panose="00000500000000000000"/>
              </a:rPr>
              <a:t>CHƯƠNG </a:t>
            </a:r>
            <a:r>
              <a:rPr lang="en-US" sz="3600" dirty="0" smtClean="0">
                <a:solidFill>
                  <a:srgbClr val="175CA2"/>
                </a:solidFill>
                <a:latin typeface="Calistoga" panose="00000500000000000000"/>
                <a:ea typeface="Calistoga" panose="00000500000000000000"/>
                <a:cs typeface="Calistoga" panose="00000500000000000000"/>
                <a:sym typeface="Calistoga" panose="00000500000000000000"/>
              </a:rPr>
              <a:t>3: </a:t>
            </a:r>
            <a:r>
              <a:rPr lang="en-US" sz="3600" dirty="0">
                <a:solidFill>
                  <a:srgbClr val="175CA2"/>
                </a:solidFill>
                <a:latin typeface="Calistoga" panose="00000500000000000000"/>
                <a:ea typeface="Calistoga" panose="00000500000000000000"/>
                <a:cs typeface="Calistoga" panose="00000500000000000000"/>
                <a:sym typeface="Calistoga" panose="00000500000000000000"/>
              </a:rPr>
              <a:t>SỬ DỤNG VISUAL STUDIO ĐỂ ỨNG DỤNG GUI MÔ PHỎNG THUẬT TOÁN LẬP LỊCH CPU: </a:t>
            </a:r>
            <a:endParaRPr lang="en-US" sz="3600" dirty="0" smtClean="0">
              <a:solidFill>
                <a:srgbClr val="175CA2"/>
              </a:solidFill>
              <a:latin typeface="Calistoga" panose="00000500000000000000"/>
              <a:ea typeface="Calistoga" panose="00000500000000000000"/>
              <a:cs typeface="Calistoga" panose="00000500000000000000"/>
              <a:sym typeface="Calistoga" panose="00000500000000000000"/>
            </a:endParaRPr>
          </a:p>
          <a:p>
            <a:pPr algn="l">
              <a:lnSpc>
                <a:spcPts val="5040"/>
              </a:lnSpc>
              <a:spcBef>
                <a:spcPct val="0"/>
              </a:spcBef>
            </a:pPr>
            <a:r>
              <a:rPr lang="en-US" sz="3600" dirty="0" smtClean="0">
                <a:solidFill>
                  <a:srgbClr val="175CA2"/>
                </a:solidFill>
                <a:latin typeface="Calistoga" panose="00000500000000000000"/>
                <a:ea typeface="Calistoga" panose="00000500000000000000"/>
                <a:cs typeface="Calistoga" panose="00000500000000000000"/>
                <a:sym typeface="Calistoga" panose="00000500000000000000"/>
              </a:rPr>
              <a:t>FCFS </a:t>
            </a:r>
            <a:r>
              <a:rPr lang="en-US" sz="3600" dirty="0">
                <a:solidFill>
                  <a:srgbClr val="175CA2"/>
                </a:solidFill>
                <a:latin typeface="Calistoga" panose="00000500000000000000"/>
                <a:ea typeface="Calistoga" panose="00000500000000000000"/>
                <a:cs typeface="Calistoga" panose="00000500000000000000"/>
                <a:sym typeface="Calistoga" panose="00000500000000000000"/>
              </a:rPr>
              <a:t>VÀ PRIORITY (NON-PREEMPTIVE).</a:t>
            </a:r>
          </a:p>
        </p:txBody>
      </p:sp>
      <p:grpSp>
        <p:nvGrpSpPr>
          <p:cNvPr id="21" name="Group 21"/>
          <p:cNvGrpSpPr/>
          <p:nvPr/>
        </p:nvGrpSpPr>
        <p:grpSpPr>
          <a:xfrm>
            <a:off x="9972046" y="2280384"/>
            <a:ext cx="7064229" cy="1044509"/>
            <a:chOff x="0" y="0"/>
            <a:chExt cx="9418972" cy="1392679"/>
          </a:xfrm>
        </p:grpSpPr>
        <p:sp>
          <p:nvSpPr>
            <p:cNvPr id="22" name="Freeform 22"/>
            <p:cNvSpPr/>
            <p:nvPr/>
          </p:nvSpPr>
          <p:spPr>
            <a:xfrm>
              <a:off x="0" y="0"/>
              <a:ext cx="9418972" cy="1392679"/>
            </a:xfrm>
            <a:custGeom>
              <a:avLst/>
              <a:gdLst/>
              <a:ahLst/>
              <a:cxnLst/>
              <a:rect l="l" t="t" r="r" b="b"/>
              <a:pathLst>
                <a:path w="9418972" h="1392679">
                  <a:moveTo>
                    <a:pt x="0" y="0"/>
                  </a:moveTo>
                  <a:lnTo>
                    <a:pt x="9418972" y="0"/>
                  </a:lnTo>
                  <a:lnTo>
                    <a:pt x="9418972" y="1392679"/>
                  </a:lnTo>
                  <a:lnTo>
                    <a:pt x="0" y="1392679"/>
                  </a:lnTo>
                  <a:lnTo>
                    <a:pt x="0" y="0"/>
                  </a:lnTo>
                  <a:close/>
                </a:path>
              </a:pathLst>
            </a:custGeom>
            <a:blipFill>
              <a:blip r:embed="rId5"/>
              <a:stretch>
                <a:fillRect t="-636" b="-636"/>
              </a:stretch>
            </a:blipFill>
          </p:spPr>
        </p:sp>
        <p:sp>
          <p:nvSpPr>
            <p:cNvPr id="23" name="TextBox 23"/>
            <p:cNvSpPr txBox="1"/>
            <p:nvPr/>
          </p:nvSpPr>
          <p:spPr>
            <a:xfrm>
              <a:off x="342746" y="337353"/>
              <a:ext cx="8733480" cy="641773"/>
            </a:xfrm>
            <a:prstGeom prst="rect">
              <a:avLst/>
            </a:prstGeom>
          </p:spPr>
          <p:txBody>
            <a:bodyPr lIns="0" tIns="0" rIns="0" bIns="0" rtlCol="0" anchor="t">
              <a:spAutoFit/>
            </a:bodyPr>
            <a:lstStyle/>
            <a:p>
              <a:pPr algn="ctr">
                <a:lnSpc>
                  <a:spcPts val="3920"/>
                </a:lnSpc>
                <a:spcBef>
                  <a:spcPct val="0"/>
                </a:spcBef>
              </a:pPr>
              <a:r>
                <a:rPr lang="en-US" sz="2800" b="1">
                  <a:solidFill>
                    <a:srgbClr val="FFFFFF"/>
                  </a:solidFill>
                  <a:latin typeface="Times New Roman Bold" panose="02020803070505020304"/>
                  <a:ea typeface="Times New Roman Bold" panose="02020803070505020304"/>
                  <a:cs typeface="Times New Roman Bold" panose="02020803070505020304"/>
                  <a:sym typeface="Times New Roman Bold" panose="02020803070505020304"/>
                </a:rPr>
                <a:t>Trước tiên chạy thuật toán FCFS</a:t>
              </a:r>
            </a:p>
          </p:txBody>
        </p:sp>
      </p:grpSp>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274908" y="6720497"/>
            <a:ext cx="3566503" cy="3566503"/>
          </a:xfrm>
          <a:custGeom>
            <a:avLst/>
            <a:gdLst/>
            <a:ahLst/>
            <a:cxnLst/>
            <a:rect l="l" t="t" r="r" b="b"/>
            <a:pathLst>
              <a:path w="3566503" h="3566503">
                <a:moveTo>
                  <a:pt x="0" y="0"/>
                </a:moveTo>
                <a:lnTo>
                  <a:pt x="3566503" y="0"/>
                </a:lnTo>
                <a:lnTo>
                  <a:pt x="3566503" y="3566503"/>
                </a:lnTo>
                <a:lnTo>
                  <a:pt x="0" y="3566503"/>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Freeform 4"/>
          <p:cNvSpPr/>
          <p:nvPr/>
        </p:nvSpPr>
        <p:spPr>
          <a:xfrm flipH="1" flipV="1">
            <a:off x="14521325" y="0"/>
            <a:ext cx="3766675" cy="3766675"/>
          </a:xfrm>
          <a:custGeom>
            <a:avLst/>
            <a:gdLst/>
            <a:ahLst/>
            <a:cxnLst/>
            <a:rect l="l" t="t" r="r" b="b"/>
            <a:pathLst>
              <a:path w="3766675" h="3766675">
                <a:moveTo>
                  <a:pt x="3766675" y="3766675"/>
                </a:moveTo>
                <a:lnTo>
                  <a:pt x="0" y="3766675"/>
                </a:lnTo>
                <a:lnTo>
                  <a:pt x="0" y="0"/>
                </a:lnTo>
                <a:lnTo>
                  <a:pt x="3766675" y="0"/>
                </a:lnTo>
                <a:lnTo>
                  <a:pt x="3766675" y="3766675"/>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5" name="Group 5"/>
          <p:cNvGrpSpPr>
            <a:grpSpLocks noChangeAspect="1"/>
          </p:cNvGrpSpPr>
          <p:nvPr/>
        </p:nvGrpSpPr>
        <p:grpSpPr>
          <a:xfrm>
            <a:off x="-5168" y="2884035"/>
            <a:ext cx="9146584" cy="5246370"/>
            <a:chOff x="0" y="0"/>
            <a:chExt cx="7981950" cy="4578350"/>
          </a:xfrm>
        </p:grpSpPr>
        <p:sp>
          <p:nvSpPr>
            <p:cNvPr id="6" name="Freeform 6"/>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7" name="Freeform 7"/>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8" name="Freeform 8"/>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9" name="Freeform 9"/>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10" name="Freeform 10"/>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5"/>
              <a:stretch>
                <a:fillRect t="-1095" b="-1095"/>
              </a:stretch>
            </a:blipFill>
          </p:spPr>
        </p:sp>
      </p:grpSp>
      <p:grpSp>
        <p:nvGrpSpPr>
          <p:cNvPr id="11" name="Group 11"/>
          <p:cNvGrpSpPr>
            <a:grpSpLocks noChangeAspect="1"/>
          </p:cNvGrpSpPr>
          <p:nvPr/>
        </p:nvGrpSpPr>
        <p:grpSpPr>
          <a:xfrm>
            <a:off x="9141416" y="2884035"/>
            <a:ext cx="9146584" cy="5246370"/>
            <a:chOff x="0" y="0"/>
            <a:chExt cx="7981950" cy="4578350"/>
          </a:xfrm>
        </p:grpSpPr>
        <p:sp>
          <p:nvSpPr>
            <p:cNvPr id="12" name="Freeform 12"/>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13" name="Freeform 13"/>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14" name="Freeform 14"/>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15" name="Freeform 15"/>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16" name="Freeform 16"/>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6"/>
              <a:stretch>
                <a:fillRect l="-307" r="-307"/>
              </a:stretch>
            </a:blipFill>
          </p:spPr>
        </p:sp>
      </p:grpSp>
      <p:grpSp>
        <p:nvGrpSpPr>
          <p:cNvPr id="17" name="Group 17"/>
          <p:cNvGrpSpPr/>
          <p:nvPr/>
        </p:nvGrpSpPr>
        <p:grpSpPr>
          <a:xfrm>
            <a:off x="1036009" y="1730193"/>
            <a:ext cx="7064229" cy="1044509"/>
            <a:chOff x="0" y="0"/>
            <a:chExt cx="9418972" cy="1392679"/>
          </a:xfrm>
        </p:grpSpPr>
        <p:sp>
          <p:nvSpPr>
            <p:cNvPr id="18" name="Freeform 18"/>
            <p:cNvSpPr/>
            <p:nvPr/>
          </p:nvSpPr>
          <p:spPr>
            <a:xfrm>
              <a:off x="0" y="0"/>
              <a:ext cx="9418972" cy="1392679"/>
            </a:xfrm>
            <a:custGeom>
              <a:avLst/>
              <a:gdLst/>
              <a:ahLst/>
              <a:cxnLst/>
              <a:rect l="l" t="t" r="r" b="b"/>
              <a:pathLst>
                <a:path w="9418972" h="1392679">
                  <a:moveTo>
                    <a:pt x="0" y="0"/>
                  </a:moveTo>
                  <a:lnTo>
                    <a:pt x="9418972" y="0"/>
                  </a:lnTo>
                  <a:lnTo>
                    <a:pt x="9418972" y="1392679"/>
                  </a:lnTo>
                  <a:lnTo>
                    <a:pt x="0" y="1392679"/>
                  </a:lnTo>
                  <a:lnTo>
                    <a:pt x="0" y="0"/>
                  </a:lnTo>
                  <a:close/>
                </a:path>
              </a:pathLst>
            </a:custGeom>
            <a:blipFill>
              <a:blip r:embed="rId7"/>
              <a:stretch>
                <a:fillRect t="-636" b="-636"/>
              </a:stretch>
            </a:blipFill>
          </p:spPr>
        </p:sp>
        <p:sp>
          <p:nvSpPr>
            <p:cNvPr id="19" name="TextBox 19"/>
            <p:cNvSpPr txBox="1"/>
            <p:nvPr/>
          </p:nvSpPr>
          <p:spPr>
            <a:xfrm>
              <a:off x="342746" y="274487"/>
              <a:ext cx="8733480" cy="704639"/>
            </a:xfrm>
            <a:prstGeom prst="rect">
              <a:avLst/>
            </a:prstGeom>
          </p:spPr>
          <p:txBody>
            <a:bodyPr lIns="0" tIns="0" rIns="0" bIns="0" rtlCol="0" anchor="t">
              <a:spAutoFit/>
            </a:bodyPr>
            <a:lstStyle/>
            <a:p>
              <a:pPr algn="ctr">
                <a:lnSpc>
                  <a:spcPts val="4340"/>
                </a:lnSpc>
                <a:spcBef>
                  <a:spcPct val="0"/>
                </a:spcBef>
              </a:pPr>
              <a:r>
                <a:rPr lang="en-US" sz="3100" b="1">
                  <a:solidFill>
                    <a:srgbClr val="FFFFFF"/>
                  </a:solidFill>
                  <a:latin typeface="Times New Roman Bold" panose="02020803070505020304"/>
                  <a:ea typeface="Times New Roman Bold" panose="02020803070505020304"/>
                  <a:cs typeface="Times New Roman Bold" panose="02020803070505020304"/>
                  <a:sym typeface="Times New Roman Bold" panose="02020803070505020304"/>
                </a:rPr>
                <a:t>Chạy sơ đồ Gantt</a:t>
              </a:r>
            </a:p>
          </p:txBody>
        </p:sp>
      </p:grpSp>
      <p:grpSp>
        <p:nvGrpSpPr>
          <p:cNvPr id="20" name="Group 20"/>
          <p:cNvGrpSpPr/>
          <p:nvPr/>
        </p:nvGrpSpPr>
        <p:grpSpPr>
          <a:xfrm>
            <a:off x="10078156" y="1730193"/>
            <a:ext cx="7064229" cy="1044509"/>
            <a:chOff x="0" y="0"/>
            <a:chExt cx="9418972" cy="1392679"/>
          </a:xfrm>
        </p:grpSpPr>
        <p:sp>
          <p:nvSpPr>
            <p:cNvPr id="21" name="Freeform 21"/>
            <p:cNvSpPr/>
            <p:nvPr/>
          </p:nvSpPr>
          <p:spPr>
            <a:xfrm>
              <a:off x="0" y="0"/>
              <a:ext cx="9418972" cy="1392679"/>
            </a:xfrm>
            <a:custGeom>
              <a:avLst/>
              <a:gdLst/>
              <a:ahLst/>
              <a:cxnLst/>
              <a:rect l="l" t="t" r="r" b="b"/>
              <a:pathLst>
                <a:path w="9418972" h="1392679">
                  <a:moveTo>
                    <a:pt x="0" y="0"/>
                  </a:moveTo>
                  <a:lnTo>
                    <a:pt x="9418972" y="0"/>
                  </a:lnTo>
                  <a:lnTo>
                    <a:pt x="9418972" y="1392679"/>
                  </a:lnTo>
                  <a:lnTo>
                    <a:pt x="0" y="1392679"/>
                  </a:lnTo>
                  <a:lnTo>
                    <a:pt x="0" y="0"/>
                  </a:lnTo>
                  <a:close/>
                </a:path>
              </a:pathLst>
            </a:custGeom>
            <a:blipFill>
              <a:blip r:embed="rId7"/>
              <a:stretch>
                <a:fillRect t="-636" b="-636"/>
              </a:stretch>
            </a:blipFill>
          </p:spPr>
        </p:sp>
        <p:sp>
          <p:nvSpPr>
            <p:cNvPr id="22" name="TextBox 22"/>
            <p:cNvSpPr txBox="1"/>
            <p:nvPr/>
          </p:nvSpPr>
          <p:spPr>
            <a:xfrm>
              <a:off x="342746" y="337353"/>
              <a:ext cx="8733480" cy="641773"/>
            </a:xfrm>
            <a:prstGeom prst="rect">
              <a:avLst/>
            </a:prstGeom>
          </p:spPr>
          <p:txBody>
            <a:bodyPr lIns="0" tIns="0" rIns="0" bIns="0" rtlCol="0" anchor="t">
              <a:spAutoFit/>
            </a:bodyPr>
            <a:lstStyle/>
            <a:p>
              <a:pPr algn="ctr">
                <a:lnSpc>
                  <a:spcPts val="3920"/>
                </a:lnSpc>
                <a:spcBef>
                  <a:spcPct val="0"/>
                </a:spcBef>
              </a:pPr>
              <a:r>
                <a:rPr lang="en-US" sz="2800" b="1">
                  <a:solidFill>
                    <a:srgbClr val="FFFFFF"/>
                  </a:solidFill>
                  <a:latin typeface="Times New Roman Bold" panose="02020803070505020304"/>
                  <a:ea typeface="Times New Roman Bold" panose="02020803070505020304"/>
                  <a:cs typeface="Times New Roman Bold" panose="02020803070505020304"/>
                  <a:sym typeface="Times New Roman Bold" panose="02020803070505020304"/>
                </a:rPr>
                <a:t>Tiếp theo chạy thuật toán Priority </a:t>
              </a:r>
            </a:p>
          </p:txBody>
        </p:sp>
      </p:grpSp>
    </p:spTree>
  </p:cSld>
  <p:clrMapOvr>
    <a:masterClrMapping/>
  </p:clrMapOvr>
  <mc:AlternateContent xmlns:mc="http://schemas.openxmlformats.org/markup-compatibility/2006" xmlns:p14="http://schemas.microsoft.com/office/powerpoint/2010/main">
    <mc:Choice Requires="p14">
      <p:transition spd="slow">
        <p:push dir="u"/>
      </p:transition>
    </mc:Choice>
    <mc:Fallback xmlns="">
      <p:transition spd="slow">
        <p:push dir="u"/>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274908" y="6720497"/>
            <a:ext cx="3566503" cy="3566503"/>
          </a:xfrm>
          <a:custGeom>
            <a:avLst/>
            <a:gdLst/>
            <a:ahLst/>
            <a:cxnLst/>
            <a:rect l="l" t="t" r="r" b="b"/>
            <a:pathLst>
              <a:path w="3566503" h="3566503">
                <a:moveTo>
                  <a:pt x="0" y="0"/>
                </a:moveTo>
                <a:lnTo>
                  <a:pt x="3566503" y="0"/>
                </a:lnTo>
                <a:lnTo>
                  <a:pt x="3566503" y="3566503"/>
                </a:lnTo>
                <a:lnTo>
                  <a:pt x="0" y="3566503"/>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Freeform 4"/>
          <p:cNvSpPr/>
          <p:nvPr/>
        </p:nvSpPr>
        <p:spPr>
          <a:xfrm flipH="1" flipV="1">
            <a:off x="14521325" y="0"/>
            <a:ext cx="3766675" cy="3766675"/>
          </a:xfrm>
          <a:custGeom>
            <a:avLst/>
            <a:gdLst/>
            <a:ahLst/>
            <a:cxnLst/>
            <a:rect l="l" t="t" r="r" b="b"/>
            <a:pathLst>
              <a:path w="3766675" h="3766675">
                <a:moveTo>
                  <a:pt x="3766675" y="3766675"/>
                </a:moveTo>
                <a:lnTo>
                  <a:pt x="0" y="3766675"/>
                </a:lnTo>
                <a:lnTo>
                  <a:pt x="0" y="0"/>
                </a:lnTo>
                <a:lnTo>
                  <a:pt x="3766675" y="0"/>
                </a:lnTo>
                <a:lnTo>
                  <a:pt x="3766675" y="3766675"/>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5" name="Group 5"/>
          <p:cNvGrpSpPr>
            <a:grpSpLocks noChangeAspect="1"/>
          </p:cNvGrpSpPr>
          <p:nvPr/>
        </p:nvGrpSpPr>
        <p:grpSpPr>
          <a:xfrm>
            <a:off x="4568123" y="2891979"/>
            <a:ext cx="9146584" cy="5246370"/>
            <a:chOff x="0" y="0"/>
            <a:chExt cx="7981950" cy="4578350"/>
          </a:xfrm>
        </p:grpSpPr>
        <p:sp>
          <p:nvSpPr>
            <p:cNvPr id="6" name="Freeform 6"/>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7" name="Freeform 7"/>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8" name="Freeform 8"/>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9" name="Freeform 9"/>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10" name="Freeform 10"/>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5"/>
              <a:stretch>
                <a:fillRect t="-1137" b="-1137"/>
              </a:stretch>
            </a:blipFill>
          </p:spPr>
        </p:sp>
      </p:grpSp>
      <p:grpSp>
        <p:nvGrpSpPr>
          <p:cNvPr id="17" name="Group 17"/>
          <p:cNvGrpSpPr/>
          <p:nvPr/>
        </p:nvGrpSpPr>
        <p:grpSpPr>
          <a:xfrm>
            <a:off x="5609301" y="1641605"/>
            <a:ext cx="7064229" cy="1044509"/>
            <a:chOff x="0" y="0"/>
            <a:chExt cx="9418972" cy="1392679"/>
          </a:xfrm>
        </p:grpSpPr>
        <p:sp>
          <p:nvSpPr>
            <p:cNvPr id="18" name="Freeform 18"/>
            <p:cNvSpPr/>
            <p:nvPr/>
          </p:nvSpPr>
          <p:spPr>
            <a:xfrm>
              <a:off x="0" y="0"/>
              <a:ext cx="9418972" cy="1392679"/>
            </a:xfrm>
            <a:custGeom>
              <a:avLst/>
              <a:gdLst/>
              <a:ahLst/>
              <a:cxnLst/>
              <a:rect l="l" t="t" r="r" b="b"/>
              <a:pathLst>
                <a:path w="9418972" h="1392679">
                  <a:moveTo>
                    <a:pt x="0" y="0"/>
                  </a:moveTo>
                  <a:lnTo>
                    <a:pt x="9418972" y="0"/>
                  </a:lnTo>
                  <a:lnTo>
                    <a:pt x="9418972" y="1392679"/>
                  </a:lnTo>
                  <a:lnTo>
                    <a:pt x="0" y="1392679"/>
                  </a:lnTo>
                  <a:lnTo>
                    <a:pt x="0" y="0"/>
                  </a:lnTo>
                  <a:close/>
                </a:path>
              </a:pathLst>
            </a:custGeom>
            <a:blipFill>
              <a:blip r:embed="rId6"/>
              <a:stretch>
                <a:fillRect t="-636" b="-636"/>
              </a:stretch>
            </a:blipFill>
          </p:spPr>
        </p:sp>
        <p:sp>
          <p:nvSpPr>
            <p:cNvPr id="19" name="TextBox 19"/>
            <p:cNvSpPr txBox="1"/>
            <p:nvPr/>
          </p:nvSpPr>
          <p:spPr>
            <a:xfrm>
              <a:off x="342746" y="274487"/>
              <a:ext cx="8733480" cy="704639"/>
            </a:xfrm>
            <a:prstGeom prst="rect">
              <a:avLst/>
            </a:prstGeom>
          </p:spPr>
          <p:txBody>
            <a:bodyPr lIns="0" tIns="0" rIns="0" bIns="0" rtlCol="0" anchor="t">
              <a:spAutoFit/>
            </a:bodyPr>
            <a:lstStyle/>
            <a:p>
              <a:pPr algn="ctr">
                <a:lnSpc>
                  <a:spcPts val="4340"/>
                </a:lnSpc>
                <a:spcBef>
                  <a:spcPct val="0"/>
                </a:spcBef>
              </a:pPr>
              <a:r>
                <a:rPr lang="en-US" sz="3100" b="1">
                  <a:solidFill>
                    <a:srgbClr val="FFFFFF"/>
                  </a:solidFill>
                  <a:latin typeface="Times New Roman Bold" panose="02020803070505020304"/>
                  <a:ea typeface="Times New Roman Bold" panose="02020803070505020304"/>
                  <a:cs typeface="Times New Roman Bold" panose="02020803070505020304"/>
                  <a:sym typeface="Times New Roman Bold" panose="02020803070505020304"/>
                </a:rPr>
                <a:t>Chạy sơ đồ Gantt</a:t>
              </a: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8887698" y="857250"/>
            <a:ext cx="3709219" cy="602748"/>
          </a:xfrm>
          <a:custGeom>
            <a:avLst/>
            <a:gdLst/>
            <a:ahLst/>
            <a:cxnLst/>
            <a:rect l="l" t="t" r="r" b="b"/>
            <a:pathLst>
              <a:path w="3709219" h="602748">
                <a:moveTo>
                  <a:pt x="0" y="0"/>
                </a:moveTo>
                <a:lnTo>
                  <a:pt x="3709220" y="0"/>
                </a:lnTo>
                <a:lnTo>
                  <a:pt x="3709220" y="602748"/>
                </a:lnTo>
                <a:lnTo>
                  <a:pt x="0" y="602748"/>
                </a:lnTo>
                <a:lnTo>
                  <a:pt x="0" y="0"/>
                </a:lnTo>
                <a:close/>
              </a:path>
            </a:pathLst>
          </a:custGeom>
          <a:blipFill>
            <a:blip r:embed="rId3">
              <a:alphaModFix amt="71000"/>
            </a:blip>
            <a:stretch>
              <a:fillRect/>
            </a:stretch>
          </a:blipFill>
        </p:spPr>
      </p:sp>
      <p:sp>
        <p:nvSpPr>
          <p:cNvPr id="4" name="Freeform 4"/>
          <p:cNvSpPr/>
          <p:nvPr/>
        </p:nvSpPr>
        <p:spPr>
          <a:xfrm flipH="1">
            <a:off x="-740476" y="-371437"/>
            <a:ext cx="14042134" cy="1228687"/>
          </a:xfrm>
          <a:custGeom>
            <a:avLst/>
            <a:gdLst/>
            <a:ahLst/>
            <a:cxnLst/>
            <a:rect l="l" t="t" r="r" b="b"/>
            <a:pathLst>
              <a:path w="14042134" h="1228687">
                <a:moveTo>
                  <a:pt x="14042134" y="0"/>
                </a:moveTo>
                <a:lnTo>
                  <a:pt x="0" y="0"/>
                </a:lnTo>
                <a:lnTo>
                  <a:pt x="0" y="1228687"/>
                </a:lnTo>
                <a:lnTo>
                  <a:pt x="14042134" y="1228687"/>
                </a:lnTo>
                <a:lnTo>
                  <a:pt x="14042134"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Freeform 5"/>
          <p:cNvSpPr/>
          <p:nvPr/>
        </p:nvSpPr>
        <p:spPr>
          <a:xfrm flipH="1">
            <a:off x="-768633" y="9725025"/>
            <a:ext cx="19825265" cy="1734711"/>
          </a:xfrm>
          <a:custGeom>
            <a:avLst/>
            <a:gdLst/>
            <a:ahLst/>
            <a:cxnLst/>
            <a:rect l="l" t="t" r="r" b="b"/>
            <a:pathLst>
              <a:path w="19825265" h="1734711">
                <a:moveTo>
                  <a:pt x="19825266" y="0"/>
                </a:moveTo>
                <a:lnTo>
                  <a:pt x="0" y="0"/>
                </a:lnTo>
                <a:lnTo>
                  <a:pt x="0" y="1734711"/>
                </a:lnTo>
                <a:lnTo>
                  <a:pt x="19825266" y="1734711"/>
                </a:lnTo>
                <a:lnTo>
                  <a:pt x="19825266"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6" name="Freeform 6"/>
          <p:cNvSpPr/>
          <p:nvPr/>
        </p:nvSpPr>
        <p:spPr>
          <a:xfrm flipH="1">
            <a:off x="12917431" y="570551"/>
            <a:ext cx="1139647" cy="343849"/>
          </a:xfrm>
          <a:custGeom>
            <a:avLst/>
            <a:gdLst/>
            <a:ahLst/>
            <a:cxnLst/>
            <a:rect l="l" t="t" r="r" b="b"/>
            <a:pathLst>
              <a:path w="1139647" h="343849">
                <a:moveTo>
                  <a:pt x="1139647" y="0"/>
                </a:moveTo>
                <a:lnTo>
                  <a:pt x="0" y="0"/>
                </a:lnTo>
                <a:lnTo>
                  <a:pt x="0" y="343849"/>
                </a:lnTo>
                <a:lnTo>
                  <a:pt x="1139647" y="343849"/>
                </a:lnTo>
                <a:lnTo>
                  <a:pt x="1139647" y="0"/>
                </a:lnTo>
                <a:close/>
              </a:path>
            </a:pathLst>
          </a:custGeom>
          <a:blipFill>
            <a:blip r:embed="rId8">
              <a:extLst>
                <a:ext uri="{96DAC541-7B7A-43D3-8B79-37D633B846F1}">
                  <asvg:svgBlip xmlns="" xmlns:asvg="http://schemas.microsoft.com/office/drawing/2016/SVG/main" r:embed="rId9"/>
                </a:ext>
              </a:extLst>
            </a:blip>
            <a:stretch>
              <a:fillRect r="-104552"/>
            </a:stretch>
          </a:blipFill>
        </p:spPr>
      </p:sp>
      <p:sp>
        <p:nvSpPr>
          <p:cNvPr id="7" name="Freeform 7"/>
          <p:cNvSpPr/>
          <p:nvPr/>
        </p:nvSpPr>
        <p:spPr>
          <a:xfrm flipH="1">
            <a:off x="1473624" y="9381176"/>
            <a:ext cx="1139647" cy="343849"/>
          </a:xfrm>
          <a:custGeom>
            <a:avLst/>
            <a:gdLst/>
            <a:ahLst/>
            <a:cxnLst/>
            <a:rect l="l" t="t" r="r" b="b"/>
            <a:pathLst>
              <a:path w="1139647" h="343849">
                <a:moveTo>
                  <a:pt x="1139646" y="0"/>
                </a:moveTo>
                <a:lnTo>
                  <a:pt x="0" y="0"/>
                </a:lnTo>
                <a:lnTo>
                  <a:pt x="0" y="343849"/>
                </a:lnTo>
                <a:lnTo>
                  <a:pt x="1139646" y="343849"/>
                </a:lnTo>
                <a:lnTo>
                  <a:pt x="1139646" y="0"/>
                </a:lnTo>
                <a:close/>
              </a:path>
            </a:pathLst>
          </a:custGeom>
          <a:blipFill>
            <a:blip r:embed="rId10">
              <a:extLst>
                <a:ext uri="{96DAC541-7B7A-43D3-8B79-37D633B846F1}">
                  <asvg:svgBlip xmlns="" xmlns:asvg="http://schemas.microsoft.com/office/drawing/2016/SVG/main" r:embed="rId11"/>
                </a:ext>
              </a:extLst>
            </a:blip>
            <a:stretch>
              <a:fillRect r="-104552"/>
            </a:stretch>
          </a:blipFill>
        </p:spPr>
      </p:sp>
      <p:sp>
        <p:nvSpPr>
          <p:cNvPr id="8" name="TextBox 8"/>
          <p:cNvSpPr txBox="1"/>
          <p:nvPr/>
        </p:nvSpPr>
        <p:spPr>
          <a:xfrm>
            <a:off x="5219571" y="872446"/>
            <a:ext cx="11045475" cy="1000274"/>
          </a:xfrm>
          <a:prstGeom prst="rect">
            <a:avLst/>
          </a:prstGeom>
        </p:spPr>
        <p:txBody>
          <a:bodyPr lIns="0" tIns="0" rIns="0" bIns="0" rtlCol="0" anchor="t">
            <a:spAutoFit/>
          </a:bodyPr>
          <a:lstStyle/>
          <a:p>
            <a:pPr algn="l">
              <a:lnSpc>
                <a:spcPts val="7840"/>
              </a:lnSpc>
              <a:spcBef>
                <a:spcPct val="0"/>
              </a:spcBef>
            </a:pPr>
            <a:r>
              <a:rPr lang="en-US" sz="5600" dirty="0">
                <a:solidFill>
                  <a:srgbClr val="175CA2"/>
                </a:solidFill>
                <a:latin typeface="Calistoga" panose="00000500000000000000"/>
                <a:ea typeface="Calistoga" panose="00000500000000000000"/>
                <a:cs typeface="Calistoga" panose="00000500000000000000"/>
                <a:sym typeface="Calistoga" panose="00000500000000000000"/>
              </a:rPr>
              <a:t>CHƯƠNG </a:t>
            </a:r>
            <a:r>
              <a:rPr lang="en-US" sz="5600" dirty="0" smtClean="0">
                <a:solidFill>
                  <a:srgbClr val="175CA2"/>
                </a:solidFill>
                <a:latin typeface="Calistoga" panose="00000500000000000000"/>
                <a:ea typeface="Calistoga" panose="00000500000000000000"/>
                <a:cs typeface="Calistoga" panose="00000500000000000000"/>
                <a:sym typeface="Calistoga" panose="00000500000000000000"/>
              </a:rPr>
              <a:t>4: </a:t>
            </a:r>
            <a:r>
              <a:rPr lang="en-US" sz="5600" dirty="0">
                <a:solidFill>
                  <a:srgbClr val="175CA2"/>
                </a:solidFill>
                <a:latin typeface="Calistoga" panose="00000500000000000000"/>
                <a:ea typeface="Calistoga" panose="00000500000000000000"/>
                <a:cs typeface="Calistoga" panose="00000500000000000000"/>
                <a:sym typeface="Calistoga" panose="00000500000000000000"/>
              </a:rPr>
              <a:t>KẾT LUẬN</a:t>
            </a:r>
          </a:p>
        </p:txBody>
      </p:sp>
      <p:grpSp>
        <p:nvGrpSpPr>
          <p:cNvPr id="9" name="Group 9"/>
          <p:cNvGrpSpPr/>
          <p:nvPr/>
        </p:nvGrpSpPr>
        <p:grpSpPr>
          <a:xfrm>
            <a:off x="512559" y="2875711"/>
            <a:ext cx="8318161" cy="3973604"/>
            <a:chOff x="0" y="0"/>
            <a:chExt cx="11090882" cy="5298138"/>
          </a:xfrm>
        </p:grpSpPr>
        <p:grpSp>
          <p:nvGrpSpPr>
            <p:cNvPr id="10" name="Group 10"/>
            <p:cNvGrpSpPr/>
            <p:nvPr/>
          </p:nvGrpSpPr>
          <p:grpSpPr>
            <a:xfrm>
              <a:off x="0" y="0"/>
              <a:ext cx="11090882" cy="5298138"/>
              <a:chOff x="0" y="0"/>
              <a:chExt cx="2190791" cy="1046546"/>
            </a:xfrm>
          </p:grpSpPr>
          <p:sp>
            <p:nvSpPr>
              <p:cNvPr id="11" name="Freeform 11"/>
              <p:cNvSpPr/>
              <p:nvPr/>
            </p:nvSpPr>
            <p:spPr>
              <a:xfrm>
                <a:off x="0" y="0"/>
                <a:ext cx="2190791" cy="1046546"/>
              </a:xfrm>
              <a:custGeom>
                <a:avLst/>
                <a:gdLst/>
                <a:ahLst/>
                <a:cxnLst/>
                <a:rect l="l" t="t" r="r" b="b"/>
                <a:pathLst>
                  <a:path w="2190791" h="1046546">
                    <a:moveTo>
                      <a:pt x="0" y="0"/>
                    </a:moveTo>
                    <a:lnTo>
                      <a:pt x="2190791" y="0"/>
                    </a:lnTo>
                    <a:lnTo>
                      <a:pt x="2190791" y="1046546"/>
                    </a:lnTo>
                    <a:lnTo>
                      <a:pt x="0" y="1046546"/>
                    </a:lnTo>
                    <a:close/>
                  </a:path>
                </a:pathLst>
              </a:custGeom>
              <a:gradFill rotWithShape="1">
                <a:gsLst>
                  <a:gs pos="0">
                    <a:srgbClr val="5DE0E6">
                      <a:alpha val="100000"/>
                    </a:srgbClr>
                  </a:gs>
                  <a:gs pos="100000">
                    <a:srgbClr val="004AAD">
                      <a:alpha val="100000"/>
                    </a:srgbClr>
                  </a:gs>
                </a:gsLst>
                <a:lin ang="5400000"/>
              </a:gradFill>
            </p:spPr>
          </p:sp>
          <p:sp>
            <p:nvSpPr>
              <p:cNvPr id="12" name="TextBox 12"/>
              <p:cNvSpPr txBox="1"/>
              <p:nvPr/>
            </p:nvSpPr>
            <p:spPr>
              <a:xfrm>
                <a:off x="0" y="-47625"/>
                <a:ext cx="2190791" cy="1094171"/>
              </a:xfrm>
              <a:prstGeom prst="rect">
                <a:avLst/>
              </a:prstGeom>
            </p:spPr>
            <p:txBody>
              <a:bodyPr lIns="50800" tIns="50800" rIns="50800" bIns="50800" rtlCol="0" anchor="ctr"/>
              <a:lstStyle/>
              <a:p>
                <a:pPr algn="ctr">
                  <a:lnSpc>
                    <a:spcPts val="3500"/>
                  </a:lnSpc>
                </a:pPr>
                <a:endParaRPr/>
              </a:p>
            </p:txBody>
          </p:sp>
        </p:grpSp>
        <p:sp>
          <p:nvSpPr>
            <p:cNvPr id="13" name="Freeform 13"/>
            <p:cNvSpPr/>
            <p:nvPr/>
          </p:nvSpPr>
          <p:spPr>
            <a:xfrm>
              <a:off x="1122656" y="0"/>
              <a:ext cx="8418812" cy="1653148"/>
            </a:xfrm>
            <a:custGeom>
              <a:avLst/>
              <a:gdLst/>
              <a:ahLst/>
              <a:cxnLst/>
              <a:rect l="l" t="t" r="r" b="b"/>
              <a:pathLst>
                <a:path w="8418812" h="1653148">
                  <a:moveTo>
                    <a:pt x="0" y="0"/>
                  </a:moveTo>
                  <a:lnTo>
                    <a:pt x="8418811" y="0"/>
                  </a:lnTo>
                  <a:lnTo>
                    <a:pt x="8418811" y="1653148"/>
                  </a:lnTo>
                  <a:lnTo>
                    <a:pt x="0" y="1653148"/>
                  </a:lnTo>
                  <a:lnTo>
                    <a:pt x="0" y="0"/>
                  </a:lnTo>
                  <a:close/>
                </a:path>
              </a:pathLst>
            </a:custGeom>
            <a:blipFill>
              <a:blip r:embed="rId12">
                <a:extLst>
                  <a:ext uri="{96DAC541-7B7A-43D3-8B79-37D633B846F1}">
                    <asvg:svgBlip xmlns="" xmlns:asvg="http://schemas.microsoft.com/office/drawing/2016/SVG/main" r:embed="rId13"/>
                  </a:ext>
                </a:extLst>
              </a:blip>
              <a:stretch>
                <a:fillRect/>
              </a:stretch>
            </a:blipFill>
          </p:spPr>
        </p:sp>
        <p:sp>
          <p:nvSpPr>
            <p:cNvPr id="14" name="TextBox 14"/>
            <p:cNvSpPr txBox="1"/>
            <p:nvPr/>
          </p:nvSpPr>
          <p:spPr>
            <a:xfrm>
              <a:off x="2526859" y="238352"/>
              <a:ext cx="5897638" cy="588222"/>
            </a:xfrm>
            <a:prstGeom prst="rect">
              <a:avLst/>
            </a:prstGeom>
          </p:spPr>
          <p:txBody>
            <a:bodyPr lIns="0" tIns="0" rIns="0" bIns="0" rtlCol="0" anchor="t">
              <a:spAutoFit/>
            </a:bodyPr>
            <a:lstStyle/>
            <a:p>
              <a:pPr algn="just">
                <a:lnSpc>
                  <a:spcPts val="3640"/>
                </a:lnSpc>
                <a:spcBef>
                  <a:spcPct val="0"/>
                </a:spcBef>
              </a:pPr>
              <a:r>
                <a:rPr lang="en-US" sz="2600" b="1" dirty="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4.1 </a:t>
              </a:r>
              <a:r>
                <a:rPr lang="en-US" sz="2600" b="1" dirty="0" err="1">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Các</a:t>
              </a:r>
              <a:r>
                <a:rPr lang="en-US" sz="2600" b="1" dirty="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 </a:t>
              </a:r>
              <a:r>
                <a:rPr lang="en-US" sz="2600" b="1" dirty="0" err="1">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vấn</a:t>
              </a:r>
              <a:r>
                <a:rPr lang="en-US" sz="2600" b="1" dirty="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 </a:t>
              </a:r>
              <a:r>
                <a:rPr lang="en-US" sz="2600" b="1" dirty="0" err="1">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đề</a:t>
              </a:r>
              <a:r>
                <a:rPr lang="en-US" sz="2600" b="1" dirty="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 </a:t>
              </a:r>
              <a:r>
                <a:rPr lang="en-US" sz="2600" b="1" dirty="0" err="1">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còn</a:t>
              </a:r>
              <a:r>
                <a:rPr lang="en-US" sz="2600" b="1" dirty="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 </a:t>
              </a:r>
              <a:r>
                <a:rPr lang="en-US" sz="2600" b="1" dirty="0" err="1">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khó</a:t>
              </a:r>
              <a:r>
                <a:rPr lang="en-US" sz="2600" b="1" dirty="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 </a:t>
              </a:r>
              <a:r>
                <a:rPr lang="en-US" sz="2600" b="1" dirty="0" err="1">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khăn</a:t>
              </a:r>
              <a:endParaRPr lang="en-US" sz="2600" b="1" dirty="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5" name="TextBox 15"/>
            <p:cNvSpPr txBox="1"/>
            <p:nvPr/>
          </p:nvSpPr>
          <p:spPr>
            <a:xfrm>
              <a:off x="202209" y="1145555"/>
              <a:ext cx="10546937" cy="4001094"/>
            </a:xfrm>
            <a:prstGeom prst="rect">
              <a:avLst/>
            </a:prstGeom>
          </p:spPr>
          <p:txBody>
            <a:bodyPr lIns="0" tIns="0" rIns="0" bIns="0" rtlCol="0" anchor="t">
              <a:spAutoFit/>
            </a:bodyPr>
            <a:lstStyle/>
            <a:p>
              <a:pPr algn="just">
                <a:lnSpc>
                  <a:spcPts val="3920"/>
                </a:lnSpc>
              </a:pPr>
              <a:r>
                <a:rPr lang="en-US" sz="2800" dirty="0" err="1">
                  <a:latin typeface="Times New Roman" panose="02020603050405020304"/>
                  <a:ea typeface="Times New Roman" panose="02020603050405020304"/>
                  <a:cs typeface="Times New Roman" panose="02020603050405020304"/>
                  <a:sym typeface="Times New Roman" panose="02020603050405020304"/>
                </a:rPr>
                <a:t>Lỗi</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đồng</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bộ</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giữa</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giao</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diện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đồ</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họa</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Tkinter</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và</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thuật</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toán</a:t>
              </a:r>
              <a:r>
                <a:rPr lang="en-US" sz="2800" dirty="0">
                  <a:latin typeface="Times New Roman" panose="02020603050405020304"/>
                  <a:ea typeface="Times New Roman" panose="02020603050405020304"/>
                  <a:cs typeface="Times New Roman" panose="02020603050405020304"/>
                  <a:sym typeface="Times New Roman" panose="02020603050405020304"/>
                </a:rPr>
                <a:t> </a:t>
              </a:r>
            </a:p>
            <a:p>
              <a:pPr algn="just">
                <a:lnSpc>
                  <a:spcPts val="3920"/>
                </a:lnSpc>
              </a:pPr>
              <a:r>
                <a:rPr lang="en-US" sz="2800" dirty="0" err="1">
                  <a:latin typeface="Times New Roman" panose="02020603050405020304"/>
                  <a:ea typeface="Times New Roman" panose="02020603050405020304"/>
                  <a:cs typeface="Times New Roman" panose="02020603050405020304"/>
                  <a:sym typeface="Times New Roman" panose="02020603050405020304"/>
                </a:rPr>
                <a:t>Phải</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nhập</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dữ</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liệu</a:t>
              </a:r>
              <a:r>
                <a:rPr lang="en-US" sz="2800" dirty="0">
                  <a:latin typeface="Times New Roman" panose="02020603050405020304"/>
                  <a:ea typeface="Times New Roman" panose="02020603050405020304"/>
                  <a:cs typeface="Times New Roman" panose="02020603050405020304"/>
                  <a:sym typeface="Times New Roman" panose="02020603050405020304"/>
                </a:rPr>
                <a:t> qua file CSV, </a:t>
              </a:r>
              <a:r>
                <a:rPr lang="en-US" sz="2800" dirty="0" err="1">
                  <a:latin typeface="Times New Roman" panose="02020603050405020304"/>
                  <a:ea typeface="Times New Roman" panose="02020603050405020304"/>
                  <a:cs typeface="Times New Roman" panose="02020603050405020304"/>
                  <a:sym typeface="Times New Roman" panose="02020603050405020304"/>
                </a:rPr>
                <a:t>chưa</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nhập</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trực</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tiếp</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được</a:t>
              </a:r>
              <a:r>
                <a:rPr lang="en-US" sz="2800" dirty="0">
                  <a:latin typeface="Times New Roman" panose="02020603050405020304"/>
                  <a:ea typeface="Times New Roman" panose="02020603050405020304"/>
                  <a:cs typeface="Times New Roman" panose="02020603050405020304"/>
                  <a:sym typeface="Times New Roman" panose="02020603050405020304"/>
                </a:rPr>
                <a:t> </a:t>
              </a:r>
            </a:p>
            <a:p>
              <a:pPr algn="just">
                <a:lnSpc>
                  <a:spcPts val="3920"/>
                </a:lnSpc>
                <a:spcBef>
                  <a:spcPct val="0"/>
                </a:spcBef>
              </a:pPr>
              <a:r>
                <a:rPr lang="en-US" sz="2800" dirty="0" err="1">
                  <a:latin typeface="Times New Roman" panose="02020603050405020304"/>
                  <a:ea typeface="Times New Roman" panose="02020603050405020304"/>
                  <a:cs typeface="Times New Roman" panose="02020603050405020304"/>
                  <a:sym typeface="Times New Roman" panose="02020603050405020304"/>
                </a:rPr>
                <a:t>Chưa</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có</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chức</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năng</a:t>
              </a:r>
              <a:r>
                <a:rPr lang="en-US" sz="2800" dirty="0">
                  <a:latin typeface="Times New Roman" panose="02020603050405020304"/>
                  <a:ea typeface="Times New Roman" panose="02020603050405020304"/>
                  <a:cs typeface="Times New Roman" panose="02020603050405020304"/>
                  <a:sym typeface="Times New Roman" panose="02020603050405020304"/>
                </a:rPr>
                <a:t> so </a:t>
              </a:r>
              <a:r>
                <a:rPr lang="en-US" sz="2800" dirty="0" err="1">
                  <a:latin typeface="Times New Roman" panose="02020603050405020304"/>
                  <a:ea typeface="Times New Roman" panose="02020603050405020304"/>
                  <a:cs typeface="Times New Roman" panose="02020603050405020304"/>
                  <a:sym typeface="Times New Roman" panose="02020603050405020304"/>
                </a:rPr>
                <a:t>sánh</a:t>
              </a:r>
              <a:r>
                <a:rPr lang="en-US" sz="2800" dirty="0">
                  <a:latin typeface="Times New Roman" panose="02020603050405020304"/>
                  <a:ea typeface="Times New Roman" panose="02020603050405020304"/>
                  <a:cs typeface="Times New Roman" panose="02020603050405020304"/>
                  <a:sym typeface="Times New Roman" panose="02020603050405020304"/>
                </a:rPr>
                <a:t> 2 </a:t>
              </a:r>
              <a:r>
                <a:rPr lang="en-US" sz="2800" dirty="0" err="1">
                  <a:latin typeface="Times New Roman" panose="02020603050405020304"/>
                  <a:ea typeface="Times New Roman" panose="02020603050405020304"/>
                  <a:cs typeface="Times New Roman" panose="02020603050405020304"/>
                  <a:sym typeface="Times New Roman" panose="02020603050405020304"/>
                </a:rPr>
                <a:t>thuật</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toán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trên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cùng</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màn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hình</a:t>
              </a:r>
              <a:endParaRPr lang="en-US" sz="2800" dirty="0">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6" name="Group 16"/>
          <p:cNvGrpSpPr/>
          <p:nvPr/>
        </p:nvGrpSpPr>
        <p:grpSpPr>
          <a:xfrm>
            <a:off x="9289546" y="2875711"/>
            <a:ext cx="8318161" cy="3948273"/>
            <a:chOff x="0" y="0"/>
            <a:chExt cx="11090882" cy="5264364"/>
          </a:xfrm>
        </p:grpSpPr>
        <p:grpSp>
          <p:nvGrpSpPr>
            <p:cNvPr id="17" name="Group 17"/>
            <p:cNvGrpSpPr/>
            <p:nvPr/>
          </p:nvGrpSpPr>
          <p:grpSpPr>
            <a:xfrm>
              <a:off x="0" y="0"/>
              <a:ext cx="11090882" cy="5264364"/>
              <a:chOff x="0" y="0"/>
              <a:chExt cx="2190791" cy="1039874"/>
            </a:xfrm>
          </p:grpSpPr>
          <p:sp>
            <p:nvSpPr>
              <p:cNvPr id="18" name="Freeform 18"/>
              <p:cNvSpPr/>
              <p:nvPr/>
            </p:nvSpPr>
            <p:spPr>
              <a:xfrm>
                <a:off x="0" y="0"/>
                <a:ext cx="2190791" cy="1039874"/>
              </a:xfrm>
              <a:custGeom>
                <a:avLst/>
                <a:gdLst/>
                <a:ahLst/>
                <a:cxnLst/>
                <a:rect l="l" t="t" r="r" b="b"/>
                <a:pathLst>
                  <a:path w="2190791" h="1039874">
                    <a:moveTo>
                      <a:pt x="0" y="0"/>
                    </a:moveTo>
                    <a:lnTo>
                      <a:pt x="2190791" y="0"/>
                    </a:lnTo>
                    <a:lnTo>
                      <a:pt x="2190791" y="1039874"/>
                    </a:lnTo>
                    <a:lnTo>
                      <a:pt x="0" y="1039874"/>
                    </a:lnTo>
                    <a:close/>
                  </a:path>
                </a:pathLst>
              </a:custGeom>
              <a:gradFill rotWithShape="1">
                <a:gsLst>
                  <a:gs pos="0">
                    <a:srgbClr val="5DE0E6">
                      <a:alpha val="100000"/>
                    </a:srgbClr>
                  </a:gs>
                  <a:gs pos="100000">
                    <a:srgbClr val="004AAD">
                      <a:alpha val="100000"/>
                    </a:srgbClr>
                  </a:gs>
                </a:gsLst>
                <a:lin ang="5400000"/>
              </a:gradFill>
            </p:spPr>
          </p:sp>
          <p:sp>
            <p:nvSpPr>
              <p:cNvPr id="19" name="TextBox 19"/>
              <p:cNvSpPr txBox="1"/>
              <p:nvPr/>
            </p:nvSpPr>
            <p:spPr>
              <a:xfrm>
                <a:off x="0" y="-47625"/>
                <a:ext cx="2190791" cy="1087499"/>
              </a:xfrm>
              <a:prstGeom prst="rect">
                <a:avLst/>
              </a:prstGeom>
            </p:spPr>
            <p:txBody>
              <a:bodyPr lIns="50800" tIns="50800" rIns="50800" bIns="50800" rtlCol="0" anchor="ctr"/>
              <a:lstStyle/>
              <a:p>
                <a:pPr algn="ctr">
                  <a:lnSpc>
                    <a:spcPts val="3500"/>
                  </a:lnSpc>
                </a:pPr>
                <a:endParaRPr/>
              </a:p>
            </p:txBody>
          </p:sp>
        </p:grpSp>
        <p:sp>
          <p:nvSpPr>
            <p:cNvPr id="20" name="Freeform 20"/>
            <p:cNvSpPr/>
            <p:nvPr/>
          </p:nvSpPr>
          <p:spPr>
            <a:xfrm>
              <a:off x="1122656" y="0"/>
              <a:ext cx="8418812" cy="1653148"/>
            </a:xfrm>
            <a:custGeom>
              <a:avLst/>
              <a:gdLst/>
              <a:ahLst/>
              <a:cxnLst/>
              <a:rect l="l" t="t" r="r" b="b"/>
              <a:pathLst>
                <a:path w="8418812" h="1653148">
                  <a:moveTo>
                    <a:pt x="0" y="0"/>
                  </a:moveTo>
                  <a:lnTo>
                    <a:pt x="8418811" y="0"/>
                  </a:lnTo>
                  <a:lnTo>
                    <a:pt x="8418811" y="1653148"/>
                  </a:lnTo>
                  <a:lnTo>
                    <a:pt x="0" y="1653148"/>
                  </a:lnTo>
                  <a:lnTo>
                    <a:pt x="0" y="0"/>
                  </a:lnTo>
                  <a:close/>
                </a:path>
              </a:pathLst>
            </a:custGeom>
            <a:blipFill>
              <a:blip r:embed="rId12">
                <a:extLst>
                  <a:ext uri="{96DAC541-7B7A-43D3-8B79-37D633B846F1}">
                    <asvg:svgBlip xmlns="" xmlns:asvg="http://schemas.microsoft.com/office/drawing/2016/SVG/main" r:embed="rId13"/>
                  </a:ext>
                </a:extLst>
              </a:blip>
              <a:stretch>
                <a:fillRect/>
              </a:stretch>
            </a:blipFill>
          </p:spPr>
        </p:sp>
        <p:sp>
          <p:nvSpPr>
            <p:cNvPr id="21" name="TextBox 21"/>
            <p:cNvSpPr txBox="1"/>
            <p:nvPr/>
          </p:nvSpPr>
          <p:spPr>
            <a:xfrm>
              <a:off x="2851776" y="238352"/>
              <a:ext cx="5572721" cy="588222"/>
            </a:xfrm>
            <a:prstGeom prst="rect">
              <a:avLst/>
            </a:prstGeom>
          </p:spPr>
          <p:txBody>
            <a:bodyPr lIns="0" tIns="0" rIns="0" bIns="0" rtlCol="0" anchor="t">
              <a:spAutoFit/>
            </a:bodyPr>
            <a:lstStyle/>
            <a:p>
              <a:pPr algn="just">
                <a:lnSpc>
                  <a:spcPts val="3640"/>
                </a:lnSpc>
                <a:spcBef>
                  <a:spcPct val="0"/>
                </a:spcBef>
              </a:pPr>
              <a:r>
                <a:rPr lang="en-US" sz="2600" b="1">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4.2 Định hướng phát triển</a:t>
              </a:r>
            </a:p>
          </p:txBody>
        </p:sp>
        <p:sp>
          <p:nvSpPr>
            <p:cNvPr id="22" name="TextBox 22"/>
            <p:cNvSpPr txBox="1"/>
            <p:nvPr/>
          </p:nvSpPr>
          <p:spPr>
            <a:xfrm>
              <a:off x="202209" y="1145555"/>
              <a:ext cx="10546937" cy="3283374"/>
            </a:xfrm>
            <a:prstGeom prst="rect">
              <a:avLst/>
            </a:prstGeom>
          </p:spPr>
          <p:txBody>
            <a:bodyPr lIns="0" tIns="0" rIns="0" bIns="0" rtlCol="0" anchor="t">
              <a:spAutoFit/>
            </a:bodyPr>
            <a:lstStyle/>
            <a:p>
              <a:pPr algn="just">
                <a:lnSpc>
                  <a:spcPts val="3920"/>
                </a:lnSpc>
              </a:pPr>
              <a:r>
                <a:rPr lang="en-US" sz="2800" dirty="0" err="1">
                  <a:latin typeface="Times New Roman" panose="02020603050405020304"/>
                  <a:ea typeface="Times New Roman" panose="02020603050405020304"/>
                  <a:cs typeface="Times New Roman" panose="02020603050405020304"/>
                  <a:sym typeface="Times New Roman" panose="02020603050405020304"/>
                </a:rPr>
                <a:t>Cải</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tiến</a:t>
              </a:r>
              <a:r>
                <a:rPr lang="en-US" sz="2800" dirty="0">
                  <a:latin typeface="Times New Roman" panose="02020603050405020304"/>
                  <a:ea typeface="Times New Roman" panose="02020603050405020304"/>
                  <a:cs typeface="Times New Roman" panose="02020603050405020304"/>
                  <a:sym typeface="Times New Roman" panose="02020603050405020304"/>
                </a:rPr>
                <a:t> GUI: </a:t>
              </a:r>
              <a:r>
                <a:rPr lang="en-US" sz="2800" dirty="0" err="1">
                  <a:latin typeface="Times New Roman" panose="02020603050405020304"/>
                  <a:ea typeface="Times New Roman" panose="02020603050405020304"/>
                  <a:cs typeface="Times New Roman" panose="02020603050405020304"/>
                  <a:sym typeface="Times New Roman" panose="02020603050405020304"/>
                </a:rPr>
                <a:t>cho</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phép</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nhập</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trực</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tiếp</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hoặc</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sinh</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dữ</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liệu</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tự</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động</a:t>
              </a:r>
              <a:r>
                <a:rPr lang="en-US" sz="2800" dirty="0">
                  <a:latin typeface="Times New Roman" panose="02020603050405020304"/>
                  <a:ea typeface="Times New Roman" panose="02020603050405020304"/>
                  <a:cs typeface="Times New Roman" panose="02020603050405020304"/>
                  <a:sym typeface="Times New Roman" panose="02020603050405020304"/>
                </a:rPr>
                <a:t> </a:t>
              </a:r>
            </a:p>
            <a:p>
              <a:pPr algn="just">
                <a:lnSpc>
                  <a:spcPts val="3920"/>
                </a:lnSpc>
              </a:pPr>
              <a:r>
                <a:rPr lang="en-US" sz="2800" dirty="0" err="1">
                  <a:latin typeface="Times New Roman" panose="02020603050405020304"/>
                  <a:ea typeface="Times New Roman" panose="02020603050405020304"/>
                  <a:cs typeface="Times New Roman" panose="02020603050405020304"/>
                  <a:sym typeface="Times New Roman" panose="02020603050405020304"/>
                </a:rPr>
                <a:t>Bổ</a:t>
              </a:r>
              <a:r>
                <a:rPr lang="en-US" sz="2800" dirty="0">
                  <a:latin typeface="Times New Roman" panose="02020603050405020304"/>
                  <a:ea typeface="Times New Roman" panose="02020603050405020304"/>
                  <a:cs typeface="Times New Roman" panose="02020603050405020304"/>
                  <a:sym typeface="Times New Roman" panose="02020603050405020304"/>
                </a:rPr>
                <a:t> sung </a:t>
              </a:r>
              <a:r>
                <a:rPr lang="en-US" sz="2800" dirty="0" err="1">
                  <a:latin typeface="Times New Roman" panose="02020603050405020304"/>
                  <a:ea typeface="Times New Roman" panose="02020603050405020304"/>
                  <a:cs typeface="Times New Roman" panose="02020603050405020304"/>
                  <a:sym typeface="Times New Roman" panose="02020603050405020304"/>
                </a:rPr>
                <a:t>thêm</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thuật</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toán</a:t>
              </a:r>
              <a:r>
                <a:rPr lang="en-US" sz="2800" dirty="0">
                  <a:latin typeface="Times New Roman" panose="02020603050405020304"/>
                  <a:ea typeface="Times New Roman" panose="02020603050405020304"/>
                  <a:cs typeface="Times New Roman" panose="02020603050405020304"/>
                  <a:sym typeface="Times New Roman" panose="02020603050405020304"/>
                </a:rPr>
                <a:t> (Round Robin, SJF,...) </a:t>
              </a:r>
            </a:p>
            <a:p>
              <a:pPr algn="just">
                <a:lnSpc>
                  <a:spcPts val="3920"/>
                </a:lnSpc>
                <a:spcBef>
                  <a:spcPct val="0"/>
                </a:spcBef>
              </a:pPr>
              <a:r>
                <a:rPr lang="en-US" sz="2800" dirty="0" err="1">
                  <a:latin typeface="Times New Roman" panose="02020603050405020304"/>
                  <a:ea typeface="Times New Roman" panose="02020603050405020304"/>
                  <a:cs typeface="Times New Roman" panose="02020603050405020304"/>
                  <a:sym typeface="Times New Roman" panose="02020603050405020304"/>
                </a:rPr>
                <a:t>Nâng</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cấp</a:t>
              </a:r>
              <a:r>
                <a:rPr lang="en-US" sz="2800" dirty="0">
                  <a:latin typeface="Times New Roman" panose="02020603050405020304"/>
                  <a:ea typeface="Times New Roman" panose="02020603050405020304"/>
                  <a:cs typeface="Times New Roman" panose="02020603050405020304"/>
                  <a:sym typeface="Times New Roman" panose="02020603050405020304"/>
                </a:rPr>
                <a:t> Priority </a:t>
              </a:r>
              <a:r>
                <a:rPr lang="en-US" sz="2800" dirty="0" err="1">
                  <a:latin typeface="Times New Roman" panose="02020603050405020304"/>
                  <a:ea typeface="Times New Roman" panose="02020603050405020304"/>
                  <a:cs typeface="Times New Roman" panose="02020603050405020304"/>
                  <a:sym typeface="Times New Roman" panose="02020603050405020304"/>
                </a:rPr>
                <a:t>bằng</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kỹ</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thuật</a:t>
              </a:r>
              <a:r>
                <a:rPr lang="en-US" sz="2800" dirty="0">
                  <a:latin typeface="Times New Roman" panose="02020603050405020304"/>
                  <a:ea typeface="Times New Roman" panose="02020603050405020304"/>
                  <a:cs typeface="Times New Roman" panose="02020603050405020304"/>
                  <a:sym typeface="Times New Roman" panose="02020603050405020304"/>
                </a:rPr>
                <a:t> Aging </a:t>
              </a:r>
              <a:r>
                <a:rPr lang="en-US" sz="2800" dirty="0" err="1">
                  <a:latin typeface="Times New Roman" panose="02020603050405020304"/>
                  <a:ea typeface="Times New Roman" panose="02020603050405020304"/>
                  <a:cs typeface="Times New Roman" panose="02020603050405020304"/>
                  <a:sym typeface="Times New Roman" panose="02020603050405020304"/>
                </a:rPr>
                <a:t>để</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tránh</a:t>
              </a:r>
              <a:r>
                <a:rPr lang="en-US" sz="2800" dirty="0">
                  <a:latin typeface="Times New Roman" panose="02020603050405020304"/>
                  <a:ea typeface="Times New Roman" panose="02020603050405020304"/>
                  <a:cs typeface="Times New Roman" panose="02020603050405020304"/>
                  <a:sym typeface="Times New Roman" panose="02020603050405020304"/>
                </a:rPr>
                <a:t> starvation</a:t>
              </a:r>
            </a:p>
          </p:txBody>
        </p:sp>
      </p:grpSp>
      <p:grpSp>
        <p:nvGrpSpPr>
          <p:cNvPr id="23" name="Group 23"/>
          <p:cNvGrpSpPr/>
          <p:nvPr/>
        </p:nvGrpSpPr>
        <p:grpSpPr>
          <a:xfrm>
            <a:off x="521419" y="6157900"/>
            <a:ext cx="17021293" cy="6605600"/>
            <a:chOff x="0" y="-241102"/>
            <a:chExt cx="22695058" cy="8807466"/>
          </a:xfrm>
        </p:grpSpPr>
        <p:sp>
          <p:nvSpPr>
            <p:cNvPr id="26" name="TextBox 26"/>
            <p:cNvSpPr txBox="1"/>
            <p:nvPr/>
          </p:nvSpPr>
          <p:spPr>
            <a:xfrm>
              <a:off x="0" y="-241102"/>
              <a:ext cx="22695058" cy="8807466"/>
            </a:xfrm>
            <a:prstGeom prst="rect">
              <a:avLst/>
            </a:prstGeom>
          </p:spPr>
          <p:txBody>
            <a:bodyPr lIns="50800" tIns="50800" rIns="50800" bIns="50800" rtlCol="0" anchor="ctr"/>
            <a:lstStyle/>
            <a:p>
              <a:pPr algn="ctr">
                <a:lnSpc>
                  <a:spcPts val="3500"/>
                </a:lnSpc>
              </a:pPr>
              <a:endParaRPr/>
            </a:p>
          </p:txBody>
        </p:sp>
        <p:sp>
          <p:nvSpPr>
            <p:cNvPr id="28" name="TextBox 28"/>
            <p:cNvSpPr txBox="1"/>
            <p:nvPr/>
          </p:nvSpPr>
          <p:spPr>
            <a:xfrm>
              <a:off x="9396531" y="238353"/>
              <a:ext cx="4180220" cy="565883"/>
            </a:xfrm>
            <a:prstGeom prst="rect">
              <a:avLst/>
            </a:prstGeom>
          </p:spPr>
          <p:txBody>
            <a:bodyPr lIns="0" tIns="0" rIns="0" bIns="0" rtlCol="0" anchor="t">
              <a:spAutoFit/>
            </a:bodyPr>
            <a:lstStyle/>
            <a:p>
              <a:pPr algn="just">
                <a:lnSpc>
                  <a:spcPts val="3640"/>
                </a:lnSpc>
                <a:spcBef>
                  <a:spcPct val="0"/>
                </a:spcBef>
              </a:pPr>
              <a:endParaRPr lang="en-US" sz="2600" b="1" dirty="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29" name="TextBox 29"/>
            <p:cNvSpPr txBox="1"/>
            <p:nvPr/>
          </p:nvSpPr>
          <p:spPr>
            <a:xfrm>
              <a:off x="387876" y="1006305"/>
              <a:ext cx="22307182" cy="612304"/>
            </a:xfrm>
            <a:prstGeom prst="rect">
              <a:avLst/>
            </a:prstGeom>
          </p:spPr>
          <p:txBody>
            <a:bodyPr lIns="0" tIns="0" rIns="0" bIns="0" rtlCol="0" anchor="t">
              <a:spAutoFit/>
            </a:bodyPr>
            <a:lstStyle/>
            <a:p>
              <a:pPr algn="just">
                <a:lnSpc>
                  <a:spcPts val="3920"/>
                </a:lnSpc>
              </a:pPr>
              <a:endParaRPr lang="en-US" sz="2800" dirty="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grpSp>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p:cTn id="21" dur="500" fill="hold"/>
                                        <p:tgtEl>
                                          <p:spTgt spid="23"/>
                                        </p:tgtEl>
                                        <p:attrNameLst>
                                          <p:attrName>ppt_w</p:attrName>
                                        </p:attrNameLst>
                                      </p:cBhvr>
                                      <p:tavLst>
                                        <p:tav tm="0">
                                          <p:val>
                                            <p:fltVal val="0"/>
                                          </p:val>
                                        </p:tav>
                                        <p:tav tm="100000">
                                          <p:val>
                                            <p:strVal val="#ppt_w"/>
                                          </p:val>
                                        </p:tav>
                                      </p:tavLst>
                                    </p:anim>
                                    <p:anim calcmode="lin" valueType="num">
                                      <p:cBhvr>
                                        <p:cTn id="22" dur="500" fill="hold"/>
                                        <p:tgtEl>
                                          <p:spTgt spid="23"/>
                                        </p:tgtEl>
                                        <p:attrNameLst>
                                          <p:attrName>ppt_h</p:attrName>
                                        </p:attrNameLst>
                                      </p:cBhvr>
                                      <p:tavLst>
                                        <p:tav tm="0">
                                          <p:val>
                                            <p:fltVal val="0"/>
                                          </p:val>
                                        </p:tav>
                                        <p:tav tm="100000">
                                          <p:val>
                                            <p:strVal val="#ppt_h"/>
                                          </p:val>
                                        </p:tav>
                                      </p:tavLst>
                                    </p:anim>
                                    <p:animEffect transition="in" filter="fade">
                                      <p:cBhvr>
                                        <p:cTn id="2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8887698" y="857250"/>
            <a:ext cx="3709219" cy="602748"/>
          </a:xfrm>
          <a:custGeom>
            <a:avLst/>
            <a:gdLst/>
            <a:ahLst/>
            <a:cxnLst/>
            <a:rect l="l" t="t" r="r" b="b"/>
            <a:pathLst>
              <a:path w="3709219" h="602748">
                <a:moveTo>
                  <a:pt x="0" y="0"/>
                </a:moveTo>
                <a:lnTo>
                  <a:pt x="3709220" y="0"/>
                </a:lnTo>
                <a:lnTo>
                  <a:pt x="3709220" y="602748"/>
                </a:lnTo>
                <a:lnTo>
                  <a:pt x="0" y="602748"/>
                </a:lnTo>
                <a:lnTo>
                  <a:pt x="0" y="0"/>
                </a:lnTo>
                <a:close/>
              </a:path>
            </a:pathLst>
          </a:custGeom>
          <a:blipFill>
            <a:blip r:embed="rId3">
              <a:alphaModFix amt="71000"/>
            </a:blip>
            <a:stretch>
              <a:fillRect/>
            </a:stretch>
          </a:blipFill>
        </p:spPr>
      </p:sp>
      <p:sp>
        <p:nvSpPr>
          <p:cNvPr id="4" name="Freeform 4"/>
          <p:cNvSpPr/>
          <p:nvPr/>
        </p:nvSpPr>
        <p:spPr>
          <a:xfrm flipH="1">
            <a:off x="-740476" y="-371437"/>
            <a:ext cx="14042134" cy="1228687"/>
          </a:xfrm>
          <a:custGeom>
            <a:avLst/>
            <a:gdLst/>
            <a:ahLst/>
            <a:cxnLst/>
            <a:rect l="l" t="t" r="r" b="b"/>
            <a:pathLst>
              <a:path w="14042134" h="1228687">
                <a:moveTo>
                  <a:pt x="14042134" y="0"/>
                </a:moveTo>
                <a:lnTo>
                  <a:pt x="0" y="0"/>
                </a:lnTo>
                <a:lnTo>
                  <a:pt x="0" y="1228687"/>
                </a:lnTo>
                <a:lnTo>
                  <a:pt x="14042134" y="1228687"/>
                </a:lnTo>
                <a:lnTo>
                  <a:pt x="14042134"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Freeform 5"/>
          <p:cNvSpPr/>
          <p:nvPr/>
        </p:nvSpPr>
        <p:spPr>
          <a:xfrm flipH="1">
            <a:off x="-768633" y="9725025"/>
            <a:ext cx="19825265" cy="1734711"/>
          </a:xfrm>
          <a:custGeom>
            <a:avLst/>
            <a:gdLst/>
            <a:ahLst/>
            <a:cxnLst/>
            <a:rect l="l" t="t" r="r" b="b"/>
            <a:pathLst>
              <a:path w="19825265" h="1734711">
                <a:moveTo>
                  <a:pt x="19825266" y="0"/>
                </a:moveTo>
                <a:lnTo>
                  <a:pt x="0" y="0"/>
                </a:lnTo>
                <a:lnTo>
                  <a:pt x="0" y="1734711"/>
                </a:lnTo>
                <a:lnTo>
                  <a:pt x="19825266" y="1734711"/>
                </a:lnTo>
                <a:lnTo>
                  <a:pt x="19825266"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6" name="Freeform 6"/>
          <p:cNvSpPr/>
          <p:nvPr/>
        </p:nvSpPr>
        <p:spPr>
          <a:xfrm flipH="1">
            <a:off x="12917431" y="570551"/>
            <a:ext cx="1139647" cy="343849"/>
          </a:xfrm>
          <a:custGeom>
            <a:avLst/>
            <a:gdLst/>
            <a:ahLst/>
            <a:cxnLst/>
            <a:rect l="l" t="t" r="r" b="b"/>
            <a:pathLst>
              <a:path w="1139647" h="343849">
                <a:moveTo>
                  <a:pt x="1139647" y="0"/>
                </a:moveTo>
                <a:lnTo>
                  <a:pt x="0" y="0"/>
                </a:lnTo>
                <a:lnTo>
                  <a:pt x="0" y="343849"/>
                </a:lnTo>
                <a:lnTo>
                  <a:pt x="1139647" y="343849"/>
                </a:lnTo>
                <a:lnTo>
                  <a:pt x="1139647" y="0"/>
                </a:lnTo>
                <a:close/>
              </a:path>
            </a:pathLst>
          </a:custGeom>
          <a:blipFill>
            <a:blip r:embed="rId8">
              <a:extLst>
                <a:ext uri="{96DAC541-7B7A-43D3-8B79-37D633B846F1}">
                  <asvg:svgBlip xmlns="" xmlns:asvg="http://schemas.microsoft.com/office/drawing/2016/SVG/main" r:embed="rId9"/>
                </a:ext>
              </a:extLst>
            </a:blip>
            <a:stretch>
              <a:fillRect r="-104552"/>
            </a:stretch>
          </a:blipFill>
        </p:spPr>
      </p:sp>
      <p:sp>
        <p:nvSpPr>
          <p:cNvPr id="7" name="Freeform 7"/>
          <p:cNvSpPr/>
          <p:nvPr/>
        </p:nvSpPr>
        <p:spPr>
          <a:xfrm flipH="1">
            <a:off x="1473624" y="9381176"/>
            <a:ext cx="1139647" cy="343849"/>
          </a:xfrm>
          <a:custGeom>
            <a:avLst/>
            <a:gdLst/>
            <a:ahLst/>
            <a:cxnLst/>
            <a:rect l="l" t="t" r="r" b="b"/>
            <a:pathLst>
              <a:path w="1139647" h="343849">
                <a:moveTo>
                  <a:pt x="1139646" y="0"/>
                </a:moveTo>
                <a:lnTo>
                  <a:pt x="0" y="0"/>
                </a:lnTo>
                <a:lnTo>
                  <a:pt x="0" y="343849"/>
                </a:lnTo>
                <a:lnTo>
                  <a:pt x="1139646" y="343849"/>
                </a:lnTo>
                <a:lnTo>
                  <a:pt x="1139646" y="0"/>
                </a:lnTo>
                <a:close/>
              </a:path>
            </a:pathLst>
          </a:custGeom>
          <a:blipFill>
            <a:blip r:embed="rId10">
              <a:extLst>
                <a:ext uri="{96DAC541-7B7A-43D3-8B79-37D633B846F1}">
                  <asvg:svgBlip xmlns="" xmlns:asvg="http://schemas.microsoft.com/office/drawing/2016/SVG/main" r:embed="rId11"/>
                </a:ext>
              </a:extLst>
            </a:blip>
            <a:stretch>
              <a:fillRect r="-104552"/>
            </a:stretch>
          </a:blipFill>
        </p:spPr>
      </p:sp>
      <p:sp>
        <p:nvSpPr>
          <p:cNvPr id="8" name="TextBox 8"/>
          <p:cNvSpPr txBox="1"/>
          <p:nvPr/>
        </p:nvSpPr>
        <p:spPr>
          <a:xfrm>
            <a:off x="5219571" y="872446"/>
            <a:ext cx="11045475" cy="962660"/>
          </a:xfrm>
          <a:prstGeom prst="rect">
            <a:avLst/>
          </a:prstGeom>
        </p:spPr>
        <p:txBody>
          <a:bodyPr lIns="0" tIns="0" rIns="0" bIns="0" rtlCol="0" anchor="t">
            <a:spAutoFit/>
          </a:bodyPr>
          <a:lstStyle/>
          <a:p>
            <a:pPr algn="l">
              <a:lnSpc>
                <a:spcPts val="7840"/>
              </a:lnSpc>
              <a:spcBef>
                <a:spcPct val="0"/>
              </a:spcBef>
            </a:pPr>
            <a:r>
              <a:rPr lang="en-US" sz="5600">
                <a:solidFill>
                  <a:srgbClr val="175CA2"/>
                </a:solidFill>
                <a:latin typeface="Calistoga" panose="00000500000000000000"/>
                <a:ea typeface="Calistoga" panose="00000500000000000000"/>
                <a:cs typeface="Calistoga" panose="00000500000000000000"/>
                <a:sym typeface="Calistoga" panose="00000500000000000000"/>
              </a:rPr>
              <a:t>CHƯƠNG 4 KẾT LUẬN</a:t>
            </a:r>
          </a:p>
        </p:txBody>
      </p:sp>
      <p:grpSp>
        <p:nvGrpSpPr>
          <p:cNvPr id="9" name="Group 9"/>
          <p:cNvGrpSpPr/>
          <p:nvPr/>
        </p:nvGrpSpPr>
        <p:grpSpPr>
          <a:xfrm>
            <a:off x="495120" y="2137884"/>
            <a:ext cx="17065030" cy="4219972"/>
            <a:chOff x="0" y="-241101"/>
            <a:chExt cx="11102227" cy="5626628"/>
          </a:xfrm>
        </p:grpSpPr>
        <p:grpSp>
          <p:nvGrpSpPr>
            <p:cNvPr id="10" name="Group 10"/>
            <p:cNvGrpSpPr/>
            <p:nvPr/>
          </p:nvGrpSpPr>
          <p:grpSpPr>
            <a:xfrm>
              <a:off x="0" y="-241101"/>
              <a:ext cx="11102227" cy="5626628"/>
              <a:chOff x="0" y="-47625"/>
              <a:chExt cx="2193032" cy="1111433"/>
            </a:xfrm>
          </p:grpSpPr>
          <p:sp>
            <p:nvSpPr>
              <p:cNvPr id="11" name="Freeform 11"/>
              <p:cNvSpPr/>
              <p:nvPr/>
            </p:nvSpPr>
            <p:spPr>
              <a:xfrm>
                <a:off x="2241" y="17262"/>
                <a:ext cx="2190791" cy="1046546"/>
              </a:xfrm>
              <a:custGeom>
                <a:avLst/>
                <a:gdLst/>
                <a:ahLst/>
                <a:cxnLst/>
                <a:rect l="l" t="t" r="r" b="b"/>
                <a:pathLst>
                  <a:path w="2190791" h="1046546">
                    <a:moveTo>
                      <a:pt x="0" y="0"/>
                    </a:moveTo>
                    <a:lnTo>
                      <a:pt x="2190791" y="0"/>
                    </a:lnTo>
                    <a:lnTo>
                      <a:pt x="2190791" y="1046546"/>
                    </a:lnTo>
                    <a:lnTo>
                      <a:pt x="0" y="1046546"/>
                    </a:lnTo>
                    <a:close/>
                  </a:path>
                </a:pathLst>
              </a:custGeom>
              <a:gradFill rotWithShape="1">
                <a:gsLst>
                  <a:gs pos="0">
                    <a:srgbClr val="5DE0E6">
                      <a:alpha val="100000"/>
                    </a:srgbClr>
                  </a:gs>
                  <a:gs pos="100000">
                    <a:srgbClr val="004AAD">
                      <a:alpha val="100000"/>
                    </a:srgbClr>
                  </a:gs>
                </a:gsLst>
                <a:lin ang="5400000"/>
              </a:gradFill>
            </p:spPr>
          </p:sp>
          <p:sp>
            <p:nvSpPr>
              <p:cNvPr id="12" name="TextBox 12"/>
              <p:cNvSpPr txBox="1"/>
              <p:nvPr/>
            </p:nvSpPr>
            <p:spPr>
              <a:xfrm>
                <a:off x="0" y="-47625"/>
                <a:ext cx="2190791" cy="1094171"/>
              </a:xfrm>
              <a:prstGeom prst="rect">
                <a:avLst/>
              </a:prstGeom>
            </p:spPr>
            <p:txBody>
              <a:bodyPr lIns="50800" tIns="50800" rIns="50800" bIns="50800" rtlCol="0" anchor="ctr"/>
              <a:lstStyle/>
              <a:p>
                <a:pPr algn="ctr">
                  <a:lnSpc>
                    <a:spcPts val="3500"/>
                  </a:lnSpc>
                </a:pPr>
                <a:endParaRPr/>
              </a:p>
            </p:txBody>
          </p:sp>
        </p:grpSp>
        <p:sp>
          <p:nvSpPr>
            <p:cNvPr id="13" name="Freeform 13"/>
            <p:cNvSpPr/>
            <p:nvPr/>
          </p:nvSpPr>
          <p:spPr>
            <a:xfrm>
              <a:off x="1122656" y="0"/>
              <a:ext cx="8418812" cy="1653148"/>
            </a:xfrm>
            <a:custGeom>
              <a:avLst/>
              <a:gdLst/>
              <a:ahLst/>
              <a:cxnLst/>
              <a:rect l="l" t="t" r="r" b="b"/>
              <a:pathLst>
                <a:path w="8418812" h="1653148">
                  <a:moveTo>
                    <a:pt x="0" y="0"/>
                  </a:moveTo>
                  <a:lnTo>
                    <a:pt x="8418811" y="0"/>
                  </a:lnTo>
                  <a:lnTo>
                    <a:pt x="8418811" y="1653148"/>
                  </a:lnTo>
                  <a:lnTo>
                    <a:pt x="0" y="1653148"/>
                  </a:lnTo>
                  <a:lnTo>
                    <a:pt x="0" y="0"/>
                  </a:lnTo>
                  <a:close/>
                </a:path>
              </a:pathLst>
            </a:custGeom>
            <a:blipFill>
              <a:blip r:embed="rId12">
                <a:extLst>
                  <a:ext uri="{96DAC541-7B7A-43D3-8B79-37D633B846F1}">
                    <asvg:svgBlip xmlns="" xmlns:asvg="http://schemas.microsoft.com/office/drawing/2016/SVG/main" r:embed="rId13"/>
                  </a:ext>
                </a:extLst>
              </a:blip>
              <a:stretch>
                <a:fillRect/>
              </a:stretch>
            </a:blipFill>
          </p:spPr>
        </p:sp>
        <p:sp>
          <p:nvSpPr>
            <p:cNvPr id="14" name="TextBox 14"/>
            <p:cNvSpPr txBox="1"/>
            <p:nvPr/>
          </p:nvSpPr>
          <p:spPr>
            <a:xfrm>
              <a:off x="3977476" y="238185"/>
              <a:ext cx="5897638" cy="588223"/>
            </a:xfrm>
            <a:prstGeom prst="rect">
              <a:avLst/>
            </a:prstGeom>
          </p:spPr>
          <p:txBody>
            <a:bodyPr lIns="0" tIns="0" rIns="0" bIns="0" rtlCol="0" anchor="t">
              <a:spAutoFit/>
            </a:bodyPr>
            <a:lstStyle/>
            <a:p>
              <a:pPr algn="just">
                <a:lnSpc>
                  <a:spcPts val="3640"/>
                </a:lnSpc>
                <a:spcBef>
                  <a:spcPct val="0"/>
                </a:spcBef>
              </a:pPr>
              <a:r>
                <a:rPr lang="en-US" sz="2600" b="1" dirty="0" smtClean="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4.3 </a:t>
              </a:r>
              <a:r>
                <a:rPr lang="vi-VN" sz="2600" b="1" dirty="0" smtClean="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Những gì đã học được</a:t>
              </a:r>
              <a:endParaRPr lang="en-US" sz="2600" b="1" dirty="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5" name="TextBox 15"/>
            <p:cNvSpPr txBox="1"/>
            <p:nvPr/>
          </p:nvSpPr>
          <p:spPr>
            <a:xfrm>
              <a:off x="202209" y="1145555"/>
              <a:ext cx="10546937" cy="2000548"/>
            </a:xfrm>
            <a:prstGeom prst="rect">
              <a:avLst/>
            </a:prstGeom>
          </p:spPr>
          <p:txBody>
            <a:bodyPr lIns="0" tIns="0" rIns="0" bIns="0" rtlCol="0" anchor="t">
              <a:spAutoFit/>
            </a:bodyPr>
            <a:lstStyle/>
            <a:p>
              <a:pPr algn="just">
                <a:lnSpc>
                  <a:spcPts val="3920"/>
                </a:lnSpc>
              </a:pPr>
              <a:r>
                <a:rPr lang="en-US" sz="2800" dirty="0" err="1">
                  <a:latin typeface="Times New Roman" panose="02020603050405020304"/>
                  <a:ea typeface="Times New Roman" panose="02020603050405020304"/>
                  <a:cs typeface="Times New Roman" panose="02020603050405020304"/>
                  <a:sym typeface="Times New Roman" panose="02020603050405020304"/>
                </a:rPr>
                <a:t>Hiểu</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rõ</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nguyên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lý</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điều</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phối</a:t>
              </a:r>
              <a:r>
                <a:rPr lang="en-US" sz="2800" dirty="0">
                  <a:latin typeface="Times New Roman" panose="02020603050405020304"/>
                  <a:ea typeface="Times New Roman" panose="02020603050405020304"/>
                  <a:cs typeface="Times New Roman" panose="02020603050405020304"/>
                  <a:sym typeface="Times New Roman" panose="02020603050405020304"/>
                </a:rPr>
                <a:t> CPU </a:t>
              </a:r>
              <a:r>
                <a:rPr lang="en-US" sz="2800" dirty="0" err="1">
                  <a:latin typeface="Times New Roman" panose="02020603050405020304"/>
                  <a:ea typeface="Times New Roman" panose="02020603050405020304"/>
                  <a:cs typeface="Times New Roman" panose="02020603050405020304"/>
                  <a:sym typeface="Times New Roman" panose="02020603050405020304"/>
                </a:rPr>
                <a:t>của</a:t>
              </a:r>
              <a:r>
                <a:rPr lang="en-US" sz="2800" dirty="0">
                  <a:latin typeface="Times New Roman" panose="02020603050405020304"/>
                  <a:ea typeface="Times New Roman" panose="02020603050405020304"/>
                  <a:cs typeface="Times New Roman" panose="02020603050405020304"/>
                  <a:sym typeface="Times New Roman" panose="02020603050405020304"/>
                </a:rPr>
                <a:t> FCFS </a:t>
              </a:r>
              <a:r>
                <a:rPr lang="en-US" sz="2800" dirty="0" err="1">
                  <a:latin typeface="Times New Roman" panose="02020603050405020304"/>
                  <a:ea typeface="Times New Roman" panose="02020603050405020304"/>
                  <a:cs typeface="Times New Roman" panose="02020603050405020304"/>
                  <a:sym typeface="Times New Roman" panose="02020603050405020304"/>
                </a:rPr>
                <a:t>và</a:t>
              </a:r>
              <a:r>
                <a:rPr lang="en-US" sz="2800" dirty="0">
                  <a:latin typeface="Times New Roman" panose="02020603050405020304"/>
                  <a:ea typeface="Times New Roman" panose="02020603050405020304"/>
                  <a:cs typeface="Times New Roman" panose="02020603050405020304"/>
                  <a:sym typeface="Times New Roman" panose="02020603050405020304"/>
                </a:rPr>
                <a:t> Priority (Non-preemptive).</a:t>
              </a:r>
              <a:r>
                <a:rPr lang="en-US" sz="2800" dirty="0" err="1">
                  <a:latin typeface="Times New Roman" panose="02020603050405020304"/>
                  <a:ea typeface="Times New Roman" panose="02020603050405020304"/>
                  <a:cs typeface="Times New Roman" panose="02020603050405020304"/>
                  <a:sym typeface="Times New Roman" panose="02020603050405020304"/>
                </a:rPr>
                <a:t>Biết</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lập</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trình</a:t>
              </a:r>
              <a:r>
                <a:rPr lang="en-US" sz="2800" dirty="0">
                  <a:latin typeface="Times New Roman" panose="02020603050405020304"/>
                  <a:ea typeface="Times New Roman" panose="02020603050405020304"/>
                  <a:cs typeface="Times New Roman" panose="02020603050405020304"/>
                  <a:sym typeface="Times New Roman" panose="02020603050405020304"/>
                </a:rPr>
                <a:t> GUI </a:t>
              </a:r>
              <a:r>
                <a:rPr lang="en-US" sz="2800" dirty="0" err="1">
                  <a:latin typeface="Times New Roman" panose="02020603050405020304"/>
                  <a:ea typeface="Times New Roman" panose="02020603050405020304"/>
                  <a:cs typeface="Times New Roman" panose="02020603050405020304"/>
                  <a:sym typeface="Times New Roman" panose="02020603050405020304"/>
                </a:rPr>
                <a:t>bằng</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Tkinter</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và</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trực</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quan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hóa</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dữ</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liệu</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bằng</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Matplotlib.Sử</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dụng</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Git</a:t>
              </a:r>
              <a:r>
                <a:rPr lang="en-US" sz="2800" dirty="0">
                  <a:latin typeface="Times New Roman" panose="02020603050405020304"/>
                  <a:ea typeface="Times New Roman" panose="02020603050405020304"/>
                  <a:cs typeface="Times New Roman" panose="02020603050405020304"/>
                  <a:sym typeface="Times New Roman" panose="02020603050405020304"/>
                </a:rPr>
                <a:t>, GitHub </a:t>
              </a:r>
              <a:r>
                <a:rPr lang="en-US" sz="2800" dirty="0" err="1">
                  <a:latin typeface="Times New Roman" panose="02020603050405020304"/>
                  <a:ea typeface="Times New Roman" panose="02020603050405020304"/>
                  <a:cs typeface="Times New Roman" panose="02020603050405020304"/>
                  <a:sym typeface="Times New Roman" panose="02020603050405020304"/>
                </a:rPr>
                <a:t>để</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quản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lý</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mã</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nguồn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hiệu</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quả.Rèn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kỹ</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năng</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làm</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việc</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nhóm</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phân</a:t>
              </a:r>
              <a:r>
                <a:rPr lang="en-US" sz="2800" dirty="0">
                  <a:latin typeface="Times New Roman" panose="02020603050405020304"/>
                  <a:ea typeface="Times New Roman" panose="02020603050405020304"/>
                  <a:cs typeface="Times New Roman" panose="02020603050405020304"/>
                  <a:sym typeface="Times New Roman" panose="02020603050405020304"/>
                </a:rPr>
                <a:t> chia </a:t>
              </a:r>
              <a:r>
                <a:rPr lang="en-US" sz="2800" dirty="0" err="1">
                  <a:latin typeface="Times New Roman" panose="02020603050405020304"/>
                  <a:ea typeface="Times New Roman" panose="02020603050405020304"/>
                  <a:cs typeface="Times New Roman" panose="02020603050405020304"/>
                  <a:sym typeface="Times New Roman" panose="02020603050405020304"/>
                </a:rPr>
                <a:t>và</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phối</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hợp</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giải</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quyết</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bài</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toán</a:t>
              </a:r>
              <a:r>
                <a:rPr lang="en-US" sz="2800" dirty="0">
                  <a:latin typeface="Times New Roman" panose="02020603050405020304"/>
                  <a:ea typeface="Times New Roman" panose="02020603050405020304"/>
                  <a:cs typeface="Times New Roman" panose="02020603050405020304"/>
                  <a:sym typeface="Times New Roman" panose="02020603050405020304"/>
                </a:rPr>
                <a:t>.</a:t>
              </a:r>
            </a:p>
          </p:txBody>
        </p:sp>
      </p:grpSp>
      <p:grpSp>
        <p:nvGrpSpPr>
          <p:cNvPr id="23" name="Group 23"/>
          <p:cNvGrpSpPr/>
          <p:nvPr/>
        </p:nvGrpSpPr>
        <p:grpSpPr>
          <a:xfrm>
            <a:off x="521419" y="6338727"/>
            <a:ext cx="17021293" cy="6424773"/>
            <a:chOff x="0" y="0"/>
            <a:chExt cx="22695058" cy="8566364"/>
          </a:xfrm>
        </p:grpSpPr>
        <p:grpSp>
          <p:nvGrpSpPr>
            <p:cNvPr id="24" name="Group 24"/>
            <p:cNvGrpSpPr/>
            <p:nvPr/>
          </p:nvGrpSpPr>
          <p:grpSpPr>
            <a:xfrm>
              <a:off x="0" y="0"/>
              <a:ext cx="22695058" cy="8566364"/>
              <a:chOff x="0" y="0"/>
              <a:chExt cx="4482974" cy="1692121"/>
            </a:xfrm>
          </p:grpSpPr>
          <p:sp>
            <p:nvSpPr>
              <p:cNvPr id="25" name="Freeform 25"/>
              <p:cNvSpPr/>
              <p:nvPr/>
            </p:nvSpPr>
            <p:spPr>
              <a:xfrm>
                <a:off x="0" y="0"/>
                <a:ext cx="4482974" cy="1692121"/>
              </a:xfrm>
              <a:custGeom>
                <a:avLst/>
                <a:gdLst/>
                <a:ahLst/>
                <a:cxnLst/>
                <a:rect l="l" t="t" r="r" b="b"/>
                <a:pathLst>
                  <a:path w="4482974" h="1692121">
                    <a:moveTo>
                      <a:pt x="0" y="0"/>
                    </a:moveTo>
                    <a:lnTo>
                      <a:pt x="4482974" y="0"/>
                    </a:lnTo>
                    <a:lnTo>
                      <a:pt x="4482974" y="1692121"/>
                    </a:lnTo>
                    <a:lnTo>
                      <a:pt x="0" y="1692121"/>
                    </a:lnTo>
                    <a:close/>
                  </a:path>
                </a:pathLst>
              </a:custGeom>
              <a:gradFill rotWithShape="1">
                <a:gsLst>
                  <a:gs pos="0">
                    <a:srgbClr val="5DE0E6">
                      <a:alpha val="100000"/>
                    </a:srgbClr>
                  </a:gs>
                  <a:gs pos="100000">
                    <a:srgbClr val="004AAD">
                      <a:alpha val="100000"/>
                    </a:srgbClr>
                  </a:gs>
                </a:gsLst>
                <a:lin ang="5400000"/>
              </a:gradFill>
            </p:spPr>
          </p:sp>
          <p:sp>
            <p:nvSpPr>
              <p:cNvPr id="26" name="TextBox 26"/>
              <p:cNvSpPr txBox="1"/>
              <p:nvPr/>
            </p:nvSpPr>
            <p:spPr>
              <a:xfrm>
                <a:off x="0" y="-47625"/>
                <a:ext cx="4482974" cy="1739746"/>
              </a:xfrm>
              <a:prstGeom prst="rect">
                <a:avLst/>
              </a:prstGeom>
            </p:spPr>
            <p:txBody>
              <a:bodyPr lIns="50800" tIns="50800" rIns="50800" bIns="50800" rtlCol="0" anchor="ctr"/>
              <a:lstStyle/>
              <a:p>
                <a:pPr algn="ctr">
                  <a:lnSpc>
                    <a:spcPts val="3500"/>
                  </a:lnSpc>
                </a:pPr>
                <a:endParaRPr/>
              </a:p>
            </p:txBody>
          </p:sp>
        </p:grpSp>
        <p:sp>
          <p:nvSpPr>
            <p:cNvPr id="27" name="Freeform 27"/>
            <p:cNvSpPr/>
            <p:nvPr/>
          </p:nvSpPr>
          <p:spPr>
            <a:xfrm>
              <a:off x="6274910" y="0"/>
              <a:ext cx="8418812" cy="1653148"/>
            </a:xfrm>
            <a:custGeom>
              <a:avLst/>
              <a:gdLst/>
              <a:ahLst/>
              <a:cxnLst/>
              <a:rect l="l" t="t" r="r" b="b"/>
              <a:pathLst>
                <a:path w="8418812" h="1653148">
                  <a:moveTo>
                    <a:pt x="0" y="0"/>
                  </a:moveTo>
                  <a:lnTo>
                    <a:pt x="8418812" y="0"/>
                  </a:lnTo>
                  <a:lnTo>
                    <a:pt x="8418812" y="1653148"/>
                  </a:lnTo>
                  <a:lnTo>
                    <a:pt x="0" y="1653148"/>
                  </a:lnTo>
                  <a:lnTo>
                    <a:pt x="0" y="0"/>
                  </a:lnTo>
                  <a:close/>
                </a:path>
              </a:pathLst>
            </a:custGeom>
            <a:blipFill>
              <a:blip r:embed="rId12">
                <a:extLst>
                  <a:ext uri="{96DAC541-7B7A-43D3-8B79-37D633B846F1}">
                    <asvg:svgBlip xmlns="" xmlns:asvg="http://schemas.microsoft.com/office/drawing/2016/SVG/main" r:embed="rId13"/>
                  </a:ext>
                </a:extLst>
              </a:blip>
              <a:stretch>
                <a:fillRect/>
              </a:stretch>
            </a:blipFill>
          </p:spPr>
        </p:sp>
        <p:sp>
          <p:nvSpPr>
            <p:cNvPr id="28" name="TextBox 28"/>
            <p:cNvSpPr txBox="1"/>
            <p:nvPr/>
          </p:nvSpPr>
          <p:spPr>
            <a:xfrm>
              <a:off x="9396531" y="238352"/>
              <a:ext cx="4180220" cy="615553"/>
            </a:xfrm>
            <a:prstGeom prst="rect">
              <a:avLst/>
            </a:prstGeom>
          </p:spPr>
          <p:txBody>
            <a:bodyPr lIns="0" tIns="0" rIns="0" bIns="0" rtlCol="0" anchor="t">
              <a:spAutoFit/>
            </a:bodyPr>
            <a:lstStyle/>
            <a:p>
              <a:pPr algn="just">
                <a:lnSpc>
                  <a:spcPts val="3640"/>
                </a:lnSpc>
                <a:spcBef>
                  <a:spcPct val="0"/>
                </a:spcBef>
              </a:pPr>
              <a:r>
                <a:rPr lang="en-US" sz="2600" b="1" dirty="0" smtClean="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4.4 </a:t>
              </a:r>
              <a:r>
                <a:rPr lang="en-US" sz="2600" b="1" dirty="0" err="1">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Kết</a:t>
              </a:r>
              <a:r>
                <a:rPr lang="en-US" sz="2600" b="1" dirty="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 </a:t>
              </a:r>
              <a:r>
                <a:rPr lang="en-US" sz="2600" b="1" dirty="0" err="1">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rPr>
                <a:t>luận</a:t>
              </a:r>
              <a:endParaRPr lang="en-US" sz="2600" b="1" dirty="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29" name="TextBox 29"/>
            <p:cNvSpPr txBox="1"/>
            <p:nvPr/>
          </p:nvSpPr>
          <p:spPr>
            <a:xfrm>
              <a:off x="387876" y="1006305"/>
              <a:ext cx="22307182" cy="4001095"/>
            </a:xfrm>
            <a:prstGeom prst="rect">
              <a:avLst/>
            </a:prstGeom>
          </p:spPr>
          <p:txBody>
            <a:bodyPr lIns="0" tIns="0" rIns="0" bIns="0" rtlCol="0" anchor="t">
              <a:spAutoFit/>
            </a:bodyPr>
            <a:lstStyle/>
            <a:p>
              <a:pPr algn="just">
                <a:lnSpc>
                  <a:spcPts val="3920"/>
                </a:lnSpc>
              </a:pPr>
              <a:r>
                <a:rPr lang="en-US" sz="2800" dirty="0">
                  <a:latin typeface="Times New Roman" panose="02020603050405020304"/>
                  <a:ea typeface="Times New Roman" panose="02020603050405020304"/>
                  <a:cs typeface="Times New Roman" panose="02020603050405020304"/>
                  <a:sym typeface="Times New Roman" panose="02020603050405020304"/>
                </a:rPr>
                <a:t>CFS:</a:t>
              </a:r>
            </a:p>
            <a:p>
              <a:pPr algn="just">
                <a:lnSpc>
                  <a:spcPts val="3920"/>
                </a:lnSpc>
              </a:pPr>
              <a:r>
                <a:rPr lang="en-US" sz="2800" dirty="0" err="1">
                  <a:latin typeface="Times New Roman" panose="02020603050405020304"/>
                  <a:ea typeface="Times New Roman" panose="02020603050405020304"/>
                  <a:cs typeface="Times New Roman" panose="02020603050405020304"/>
                  <a:sym typeface="Times New Roman" panose="02020603050405020304"/>
                </a:rPr>
                <a:t>Là</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thuật</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toán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đơn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giản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dễ</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triển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khai</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và</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phù</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hợp</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với</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các</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hệ</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thống</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không</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yêu</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cầu</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ưu</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tiên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Tuy</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nhiên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hiệu</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suất</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chưa</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cao</a:t>
              </a:r>
              <a:r>
                <a:rPr lang="en-US" sz="2800" dirty="0">
                  <a:latin typeface="Times New Roman" panose="02020603050405020304"/>
                  <a:ea typeface="Times New Roman" panose="02020603050405020304"/>
                  <a:cs typeface="Times New Roman" panose="02020603050405020304"/>
                  <a:sym typeface="Times New Roman" panose="02020603050405020304"/>
                </a:rPr>
                <a:t> do </a:t>
              </a:r>
              <a:r>
                <a:rPr lang="en-US" sz="2800" dirty="0" err="1">
                  <a:latin typeface="Times New Roman" panose="02020603050405020304"/>
                  <a:ea typeface="Times New Roman" panose="02020603050405020304"/>
                  <a:cs typeface="Times New Roman" panose="02020603050405020304"/>
                  <a:sym typeface="Times New Roman" panose="02020603050405020304"/>
                </a:rPr>
                <a:t>có</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thể</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gây</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thời</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gian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chờ</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dài</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giữa</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các</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tiến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trình</a:t>
              </a:r>
              <a:r>
                <a:rPr lang="en-US" sz="2800" dirty="0">
                  <a:latin typeface="Times New Roman" panose="02020603050405020304"/>
                  <a:ea typeface="Times New Roman" panose="02020603050405020304"/>
                  <a:cs typeface="Times New Roman" panose="02020603050405020304"/>
                  <a:sym typeface="Times New Roman" panose="02020603050405020304"/>
                </a:rPr>
                <a:t>.</a:t>
              </a:r>
            </a:p>
            <a:p>
              <a:pPr algn="just">
                <a:lnSpc>
                  <a:spcPts val="3920"/>
                </a:lnSpc>
              </a:pPr>
              <a:r>
                <a:rPr lang="en-US" sz="2800" dirty="0">
                  <a:latin typeface="Times New Roman" panose="02020603050405020304"/>
                  <a:ea typeface="Times New Roman" panose="02020603050405020304"/>
                  <a:cs typeface="Times New Roman" panose="02020603050405020304"/>
                  <a:sym typeface="Times New Roman" panose="02020603050405020304"/>
                </a:rPr>
                <a:t>Priority (Non-preemptive):</a:t>
              </a:r>
            </a:p>
            <a:p>
              <a:pPr algn="just">
                <a:lnSpc>
                  <a:spcPts val="3920"/>
                </a:lnSpc>
                <a:spcBef>
                  <a:spcPct val="0"/>
                </a:spcBef>
              </a:pPr>
              <a:r>
                <a:rPr lang="en-US" sz="2800" dirty="0">
                  <a:latin typeface="Times New Roman" panose="02020603050405020304"/>
                  <a:ea typeface="Times New Roman" panose="02020603050405020304"/>
                  <a:cs typeface="Times New Roman" panose="02020603050405020304"/>
                  <a:sym typeface="Times New Roman" panose="02020603050405020304"/>
                </a:rPr>
                <a:t>Cho </a:t>
              </a:r>
              <a:r>
                <a:rPr lang="en-US" sz="2800" dirty="0" err="1">
                  <a:latin typeface="Times New Roman" panose="02020603050405020304"/>
                  <a:ea typeface="Times New Roman" panose="02020603050405020304"/>
                  <a:cs typeface="Times New Roman" panose="02020603050405020304"/>
                  <a:sym typeface="Times New Roman" panose="02020603050405020304"/>
                </a:rPr>
                <a:t>phép</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xử</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lý</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các</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tiến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trình</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quan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trọng</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trước</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phù</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hợp</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với</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hệ</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thống</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cần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phân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cấp</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công</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việc</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Tuy</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nhiên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cần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cải</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tiến</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thêm</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như</a:t>
              </a:r>
              <a:r>
                <a:rPr lang="en-US" sz="2800" dirty="0">
                  <a:latin typeface="Times New Roman" panose="02020603050405020304"/>
                  <a:ea typeface="Times New Roman" panose="02020603050405020304"/>
                  <a:cs typeface="Times New Roman" panose="02020603050405020304"/>
                  <a:sym typeface="Times New Roman" panose="02020603050405020304"/>
                </a:rPr>
                <a:t> Aging) </a:t>
              </a:r>
              <a:r>
                <a:rPr lang="en-US" sz="2800" dirty="0" err="1">
                  <a:latin typeface="Times New Roman" panose="02020603050405020304"/>
                  <a:ea typeface="Times New Roman" panose="02020603050405020304"/>
                  <a:cs typeface="Times New Roman" panose="02020603050405020304"/>
                  <a:sym typeface="Times New Roman" panose="02020603050405020304"/>
                </a:rPr>
                <a:t>để</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tránh</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tình</a:t>
              </a: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trạng</a:t>
              </a:r>
              <a:r>
                <a:rPr lang="en-US" sz="2800" dirty="0">
                  <a:latin typeface="Times New Roman" panose="02020603050405020304"/>
                  <a:ea typeface="Times New Roman" panose="02020603050405020304"/>
                  <a:cs typeface="Times New Roman" panose="02020603050405020304"/>
                  <a:sym typeface="Times New Roman" panose="02020603050405020304"/>
                </a:rPr>
                <a:t> starvation.</a:t>
              </a:r>
            </a:p>
          </p:txBody>
        </p:sp>
      </p:grpSp>
    </p:spTree>
    <p:extLst>
      <p:ext uri="{BB962C8B-B14F-4D97-AF65-F5344CB8AC3E}">
        <p14:creationId xmlns:p14="http://schemas.microsoft.com/office/powerpoint/2010/main" val="283339304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p:cTn id="14" dur="500" fill="hold"/>
                                        <p:tgtEl>
                                          <p:spTgt spid="23"/>
                                        </p:tgtEl>
                                        <p:attrNameLst>
                                          <p:attrName>ppt_w</p:attrName>
                                        </p:attrNameLst>
                                      </p:cBhvr>
                                      <p:tavLst>
                                        <p:tav tm="0">
                                          <p:val>
                                            <p:fltVal val="0"/>
                                          </p:val>
                                        </p:tav>
                                        <p:tav tm="100000">
                                          <p:val>
                                            <p:strVal val="#ppt_w"/>
                                          </p:val>
                                        </p:tav>
                                      </p:tavLst>
                                    </p:anim>
                                    <p:anim calcmode="lin" valueType="num">
                                      <p:cBhvr>
                                        <p:cTn id="15" dur="500" fill="hold"/>
                                        <p:tgtEl>
                                          <p:spTgt spid="23"/>
                                        </p:tgtEl>
                                        <p:attrNameLst>
                                          <p:attrName>ppt_h</p:attrName>
                                        </p:attrNameLst>
                                      </p:cBhvr>
                                      <p:tavLst>
                                        <p:tav tm="0">
                                          <p:val>
                                            <p:fltVal val="0"/>
                                          </p:val>
                                        </p:tav>
                                        <p:tav tm="100000">
                                          <p:val>
                                            <p:strVal val="#ppt_h"/>
                                          </p:val>
                                        </p:tav>
                                      </p:tavLst>
                                    </p:anim>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8887698" y="857250"/>
            <a:ext cx="3709219" cy="602748"/>
          </a:xfrm>
          <a:custGeom>
            <a:avLst/>
            <a:gdLst/>
            <a:ahLst/>
            <a:cxnLst/>
            <a:rect l="l" t="t" r="r" b="b"/>
            <a:pathLst>
              <a:path w="3709219" h="602748">
                <a:moveTo>
                  <a:pt x="0" y="0"/>
                </a:moveTo>
                <a:lnTo>
                  <a:pt x="3709220" y="0"/>
                </a:lnTo>
                <a:lnTo>
                  <a:pt x="3709220" y="602748"/>
                </a:lnTo>
                <a:lnTo>
                  <a:pt x="0" y="602748"/>
                </a:lnTo>
                <a:lnTo>
                  <a:pt x="0" y="0"/>
                </a:lnTo>
                <a:close/>
              </a:path>
            </a:pathLst>
          </a:custGeom>
          <a:blipFill>
            <a:blip r:embed="rId3">
              <a:alphaModFix amt="71000"/>
            </a:blip>
            <a:stretch>
              <a:fillRect/>
            </a:stretch>
          </a:blipFill>
        </p:spPr>
      </p:sp>
      <p:sp>
        <p:nvSpPr>
          <p:cNvPr id="4" name="Freeform 4"/>
          <p:cNvSpPr/>
          <p:nvPr/>
        </p:nvSpPr>
        <p:spPr>
          <a:xfrm flipH="1">
            <a:off x="-740476" y="-371437"/>
            <a:ext cx="14042134" cy="1228687"/>
          </a:xfrm>
          <a:custGeom>
            <a:avLst/>
            <a:gdLst/>
            <a:ahLst/>
            <a:cxnLst/>
            <a:rect l="l" t="t" r="r" b="b"/>
            <a:pathLst>
              <a:path w="14042134" h="1228687">
                <a:moveTo>
                  <a:pt x="14042134" y="0"/>
                </a:moveTo>
                <a:lnTo>
                  <a:pt x="0" y="0"/>
                </a:lnTo>
                <a:lnTo>
                  <a:pt x="0" y="1228687"/>
                </a:lnTo>
                <a:lnTo>
                  <a:pt x="14042134" y="1228687"/>
                </a:lnTo>
                <a:lnTo>
                  <a:pt x="14042134"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Freeform 5"/>
          <p:cNvSpPr/>
          <p:nvPr/>
        </p:nvSpPr>
        <p:spPr>
          <a:xfrm flipH="1">
            <a:off x="-768633" y="9725025"/>
            <a:ext cx="19825265" cy="1734711"/>
          </a:xfrm>
          <a:custGeom>
            <a:avLst/>
            <a:gdLst/>
            <a:ahLst/>
            <a:cxnLst/>
            <a:rect l="l" t="t" r="r" b="b"/>
            <a:pathLst>
              <a:path w="19825265" h="1734711">
                <a:moveTo>
                  <a:pt x="19825266" y="0"/>
                </a:moveTo>
                <a:lnTo>
                  <a:pt x="0" y="0"/>
                </a:lnTo>
                <a:lnTo>
                  <a:pt x="0" y="1734711"/>
                </a:lnTo>
                <a:lnTo>
                  <a:pt x="19825266" y="1734711"/>
                </a:lnTo>
                <a:lnTo>
                  <a:pt x="19825266"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6" name="Freeform 6"/>
          <p:cNvSpPr/>
          <p:nvPr/>
        </p:nvSpPr>
        <p:spPr>
          <a:xfrm flipH="1">
            <a:off x="12917431" y="570551"/>
            <a:ext cx="1139647" cy="343849"/>
          </a:xfrm>
          <a:custGeom>
            <a:avLst/>
            <a:gdLst/>
            <a:ahLst/>
            <a:cxnLst/>
            <a:rect l="l" t="t" r="r" b="b"/>
            <a:pathLst>
              <a:path w="1139647" h="343849">
                <a:moveTo>
                  <a:pt x="1139647" y="0"/>
                </a:moveTo>
                <a:lnTo>
                  <a:pt x="0" y="0"/>
                </a:lnTo>
                <a:lnTo>
                  <a:pt x="0" y="343849"/>
                </a:lnTo>
                <a:lnTo>
                  <a:pt x="1139647" y="343849"/>
                </a:lnTo>
                <a:lnTo>
                  <a:pt x="1139647" y="0"/>
                </a:lnTo>
                <a:close/>
              </a:path>
            </a:pathLst>
          </a:custGeom>
          <a:blipFill>
            <a:blip r:embed="rId8">
              <a:extLst>
                <a:ext uri="{96DAC541-7B7A-43D3-8B79-37D633B846F1}">
                  <asvg:svgBlip xmlns="" xmlns:asvg="http://schemas.microsoft.com/office/drawing/2016/SVG/main" r:embed="rId9"/>
                </a:ext>
              </a:extLst>
            </a:blip>
            <a:stretch>
              <a:fillRect r="-104552"/>
            </a:stretch>
          </a:blipFill>
        </p:spPr>
      </p:sp>
      <p:sp>
        <p:nvSpPr>
          <p:cNvPr id="7" name="Freeform 7"/>
          <p:cNvSpPr/>
          <p:nvPr/>
        </p:nvSpPr>
        <p:spPr>
          <a:xfrm flipH="1">
            <a:off x="1473624" y="9381176"/>
            <a:ext cx="1139647" cy="343849"/>
          </a:xfrm>
          <a:custGeom>
            <a:avLst/>
            <a:gdLst/>
            <a:ahLst/>
            <a:cxnLst/>
            <a:rect l="l" t="t" r="r" b="b"/>
            <a:pathLst>
              <a:path w="1139647" h="343849">
                <a:moveTo>
                  <a:pt x="1139646" y="0"/>
                </a:moveTo>
                <a:lnTo>
                  <a:pt x="0" y="0"/>
                </a:lnTo>
                <a:lnTo>
                  <a:pt x="0" y="343849"/>
                </a:lnTo>
                <a:lnTo>
                  <a:pt x="1139646" y="343849"/>
                </a:lnTo>
                <a:lnTo>
                  <a:pt x="1139646" y="0"/>
                </a:lnTo>
                <a:close/>
              </a:path>
            </a:pathLst>
          </a:custGeom>
          <a:blipFill>
            <a:blip r:embed="rId10">
              <a:extLst>
                <a:ext uri="{96DAC541-7B7A-43D3-8B79-37D633B846F1}">
                  <asvg:svgBlip xmlns="" xmlns:asvg="http://schemas.microsoft.com/office/drawing/2016/SVG/main" r:embed="rId11"/>
                </a:ext>
              </a:extLst>
            </a:blip>
            <a:stretch>
              <a:fillRect r="-104552"/>
            </a:stretch>
          </a:blipFill>
        </p:spPr>
      </p:sp>
      <p:grpSp>
        <p:nvGrpSpPr>
          <p:cNvPr id="23" name="Group 23"/>
          <p:cNvGrpSpPr/>
          <p:nvPr/>
        </p:nvGrpSpPr>
        <p:grpSpPr>
          <a:xfrm>
            <a:off x="521419" y="6157900"/>
            <a:ext cx="17021293" cy="6605600"/>
            <a:chOff x="0" y="-241102"/>
            <a:chExt cx="22695058" cy="8807466"/>
          </a:xfrm>
        </p:grpSpPr>
        <p:sp>
          <p:nvSpPr>
            <p:cNvPr id="26" name="TextBox 26"/>
            <p:cNvSpPr txBox="1"/>
            <p:nvPr/>
          </p:nvSpPr>
          <p:spPr>
            <a:xfrm>
              <a:off x="0" y="-241102"/>
              <a:ext cx="22695058" cy="8807466"/>
            </a:xfrm>
            <a:prstGeom prst="rect">
              <a:avLst/>
            </a:prstGeom>
          </p:spPr>
          <p:txBody>
            <a:bodyPr lIns="50800" tIns="50800" rIns="50800" bIns="50800" rtlCol="0" anchor="ctr"/>
            <a:lstStyle/>
            <a:p>
              <a:pPr algn="ctr">
                <a:lnSpc>
                  <a:spcPts val="3500"/>
                </a:lnSpc>
              </a:pPr>
              <a:endParaRPr/>
            </a:p>
          </p:txBody>
        </p:sp>
        <p:sp>
          <p:nvSpPr>
            <p:cNvPr id="28" name="TextBox 28"/>
            <p:cNvSpPr txBox="1"/>
            <p:nvPr/>
          </p:nvSpPr>
          <p:spPr>
            <a:xfrm>
              <a:off x="9396531" y="238353"/>
              <a:ext cx="4180220" cy="782265"/>
            </a:xfrm>
            <a:prstGeom prst="rect">
              <a:avLst/>
            </a:prstGeom>
          </p:spPr>
          <p:txBody>
            <a:bodyPr lIns="0" tIns="0" rIns="0" bIns="0" rtlCol="0" anchor="t">
              <a:spAutoFit/>
            </a:bodyPr>
            <a:lstStyle/>
            <a:p>
              <a:pPr algn="ctr">
                <a:lnSpc>
                  <a:spcPts val="3640"/>
                </a:lnSpc>
                <a:spcBef>
                  <a:spcPct val="0"/>
                </a:spcBef>
              </a:pPr>
              <a:endParaRPr lang="en-US" sz="8000" b="1" dirty="0">
                <a:solidFill>
                  <a:srgbClr val="003886"/>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29" name="TextBox 29"/>
            <p:cNvSpPr txBox="1"/>
            <p:nvPr/>
          </p:nvSpPr>
          <p:spPr>
            <a:xfrm>
              <a:off x="387876" y="1006306"/>
              <a:ext cx="22307182" cy="612304"/>
            </a:xfrm>
            <a:prstGeom prst="rect">
              <a:avLst/>
            </a:prstGeom>
          </p:spPr>
          <p:txBody>
            <a:bodyPr lIns="0" tIns="0" rIns="0" bIns="0" rtlCol="0" anchor="t">
              <a:spAutoFit/>
            </a:bodyPr>
            <a:lstStyle/>
            <a:p>
              <a:pPr algn="just">
                <a:lnSpc>
                  <a:spcPts val="3920"/>
                </a:lnSpc>
              </a:pPr>
              <a:endParaRPr lang="en-US" sz="2800" dirty="0">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6" name="TextBox 15"/>
          <p:cNvSpPr txBox="1"/>
          <p:nvPr/>
        </p:nvSpPr>
        <p:spPr>
          <a:xfrm>
            <a:off x="4955365" y="3850470"/>
            <a:ext cx="8153400" cy="1938992"/>
          </a:xfrm>
          <a:prstGeom prst="rect">
            <a:avLst/>
          </a:prstGeom>
          <a:noFill/>
        </p:spPr>
        <p:txBody>
          <a:bodyPr wrap="square" rtlCol="0">
            <a:spAutoFit/>
          </a:bodyPr>
          <a:lstStyle/>
          <a:p>
            <a:pPr algn="ctr"/>
            <a:r>
              <a:rPr lang="vi-VN" sz="6000" b="1" dirty="0" smtClean="0">
                <a:solidFill>
                  <a:schemeClr val="accent5">
                    <a:lumMod val="75000"/>
                  </a:schemeClr>
                </a:solidFill>
                <a:latin typeface="Times New Roman" panose="02020603050405020304" pitchFamily="18" charset="0"/>
                <a:cs typeface="Times New Roman" panose="02020603050405020304" pitchFamily="18" charset="0"/>
              </a:rPr>
              <a:t>THANKS FOR LISTENING</a:t>
            </a:r>
            <a:endParaRPr lang="en-US" sz="6000" b="1" dirty="0">
              <a:solidFill>
                <a:schemeClr val="accent5">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869395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1192</Words>
  <Application>Microsoft Office PowerPoint</Application>
  <PresentationFormat>Custom</PresentationFormat>
  <Paragraphs>92</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Calibri</vt:lpstr>
      <vt:lpstr>Calistoga</vt:lpstr>
      <vt:lpstr>Times New Roman</vt:lpstr>
      <vt:lpstr>Helvetica World Bold</vt:lpstr>
      <vt:lpstr>Arial</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TÀI:  ỨNG DỤNG GUI MÔ PHỎNG THUẬT TOÁN LẬP LỊCH CPU: FCFS VÀ PRIORITY</dc:title>
  <dc:creator>Min #1108</dc:creator>
  <cp:lastModifiedBy>Min #1108</cp:lastModifiedBy>
  <cp:revision>6</cp:revision>
  <dcterms:created xsi:type="dcterms:W3CDTF">2006-08-16T00:00:00Z</dcterms:created>
  <dcterms:modified xsi:type="dcterms:W3CDTF">2026-04-14T15:11:37Z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1033-12.1.0.24752</vt:lpwstr>
  </property>
  <property fmtid="{D5CDD505-2E9C-101B-9397-08002B2CF9AE}" pid="3" name="ICV">
    <vt:lpwstr>111736DC5A204ABC82ACB716693326D7_12</vt:lpwstr>
  </property>
</Properties>
</file>